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0" r:id="rId5"/>
  </p:sldMasterIdLst>
  <p:notesMasterIdLst>
    <p:notesMasterId r:id="rId19"/>
  </p:notesMasterIdLst>
  <p:handoutMasterIdLst>
    <p:handoutMasterId r:id="rId20"/>
  </p:handoutMasterIdLst>
  <p:sldIdLst>
    <p:sldId id="256" r:id="rId6"/>
    <p:sldId id="258" r:id="rId7"/>
    <p:sldId id="309" r:id="rId8"/>
    <p:sldId id="310" r:id="rId9"/>
    <p:sldId id="305" r:id="rId10"/>
    <p:sldId id="315" r:id="rId11"/>
    <p:sldId id="314" r:id="rId12"/>
    <p:sldId id="317" r:id="rId13"/>
    <p:sldId id="318" r:id="rId14"/>
    <p:sldId id="311" r:id="rId15"/>
    <p:sldId id="312" r:id="rId16"/>
    <p:sldId id="313" r:id="rId17"/>
    <p:sldId id="319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F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4510" autoAdjust="0"/>
  </p:normalViewPr>
  <p:slideViewPr>
    <p:cSldViewPr snapToGrid="0" showGuides="1">
      <p:cViewPr varScale="1">
        <p:scale>
          <a:sx n="78" d="100"/>
          <a:sy n="78" d="100"/>
        </p:scale>
        <p:origin x="1032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0594E95E-CC59-D758-B1AF-ED5CD85E1AA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CF600E1-AFF0-DE98-28D6-DAFE22F18C3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0488B5-15B3-496A-A880-2DCC344E83BB}" type="datetimeFigureOut">
              <a:rPr lang="fr-FR" smtClean="0"/>
              <a:t>26/02/2026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9A73E48-4336-C1C1-0CB0-6F34176AFFB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9B9F95F-779E-3565-2C51-08BCB9BCFB6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94328B-9360-4E51-819E-32E968134B5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809041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E4E41A-B500-4E07-B0F6-B74CA4F34813}" type="datetimeFigureOut">
              <a:rPr lang="fr-FR" smtClean="0"/>
              <a:t>26/02/2026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1BF473-EC16-4647-BA3C-CDFDC5577E6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88934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1BF473-EC16-4647-BA3C-CDFDC5577E6A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874707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2694A6-0FEE-2114-A016-8204F8B9D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B7A2A262-BE67-3BF7-91F7-E3B6E6CAEF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5D835B24-FB12-AD54-B5D2-A21FC6082F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6835263-0B50-C8B6-3D39-EC58FDE637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1BF473-EC16-4647-BA3C-CDFDC5577E6A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276125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icture Placeholder 2">
            <a:extLst>
              <a:ext uri="{FF2B5EF4-FFF2-40B4-BE49-F238E27FC236}">
                <a16:creationId xmlns:a16="http://schemas.microsoft.com/office/drawing/2014/main" id="{03D07111-3043-A3AE-DF17-91CC0577B087}"/>
              </a:ext>
            </a:extLst>
          </p:cNvPr>
          <p:cNvSpPr>
            <a:spLocks noGrp="1"/>
          </p:cNvSpPr>
          <p:nvPr>
            <p:ph type="pic" idx="12" hasCustomPrompt="1"/>
          </p:nvPr>
        </p:nvSpPr>
        <p:spPr>
          <a:xfrm>
            <a:off x="1005032" y="353746"/>
            <a:ext cx="1084551" cy="821979"/>
          </a:xfrm>
          <a:prstGeom prst="rect">
            <a:avLst/>
          </a:prstGeom>
        </p:spPr>
        <p:txBody>
          <a:bodyPr numCol="1" anchor="ctr"/>
          <a:lstStyle>
            <a:lvl1pPr marL="0" indent="0" algn="ctr">
              <a:buNone/>
              <a:defRPr sz="1500">
                <a:latin typeface="Tenorite" panose="00000500000000000000" pitchFamily="2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Conf LOGO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4F9AE6-6390-0348-5A99-F4EF0219289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5325" y="3152954"/>
            <a:ext cx="10805122" cy="997846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algn="r">
              <a:defRPr sz="3200" b="1">
                <a:latin typeface="Tenorite" panose="000005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959406-6D7E-9AA5-F3C3-3A18D9FCA2B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5325" y="4235569"/>
            <a:ext cx="10805122" cy="396815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400" b="0">
                <a:latin typeface="Tenorite" panose="000005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Author 1, Author 2, Author 3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82C5256-B058-FBA8-0D0A-BD90E1467C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5325" y="4718050"/>
            <a:ext cx="10801350" cy="396875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000">
                <a:solidFill>
                  <a:srgbClr val="000000"/>
                </a:solidFill>
                <a:latin typeface="Tenorite" panose="00000500000000000000" pitchFamily="2" charset="0"/>
              </a:defRPr>
            </a:lvl1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Affiliation 1 | Affiliation 2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7D021592-9093-8667-BD8E-B7331A55AC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52700" y="441680"/>
            <a:ext cx="8943975" cy="64611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>
              <a:spcBef>
                <a:spcPts val="0"/>
              </a:spcBef>
              <a:buNone/>
              <a:defRPr sz="2000">
                <a:latin typeface="Tenorite" panose="00000500000000000000" pitchFamily="2" charset="0"/>
              </a:defRPr>
            </a:lvl1pPr>
          </a:lstStyle>
          <a:p>
            <a:pPr lvl="0"/>
            <a:r>
              <a:rPr lang="en-US" dirty="0"/>
              <a:t>Conference Name / Event Name</a:t>
            </a:r>
          </a:p>
          <a:p>
            <a:pPr lvl="0"/>
            <a:r>
              <a:rPr lang="en-US" dirty="0"/>
              <a:t>Date | Place</a:t>
            </a:r>
          </a:p>
        </p:txBody>
      </p:sp>
      <p:sp>
        <p:nvSpPr>
          <p:cNvPr id="32" name="Picture Placeholder 2">
            <a:extLst>
              <a:ext uri="{FF2B5EF4-FFF2-40B4-BE49-F238E27FC236}">
                <a16:creationId xmlns:a16="http://schemas.microsoft.com/office/drawing/2014/main" id="{154279FC-7521-9C7A-EA5B-B3902A9E8BA6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5704556" y="5651050"/>
            <a:ext cx="1084551" cy="821979"/>
          </a:xfrm>
          <a:prstGeom prst="rect">
            <a:avLst/>
          </a:prstGeom>
        </p:spPr>
        <p:txBody>
          <a:bodyPr numCol="1" anchor="ctr"/>
          <a:lstStyle>
            <a:lvl1pPr marL="0" indent="0" algn="ctr">
              <a:buNone/>
              <a:defRPr sz="1500">
                <a:latin typeface="Tenorite" panose="00000500000000000000" pitchFamily="2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Other Affiliations LOGO</a:t>
            </a:r>
          </a:p>
        </p:txBody>
      </p:sp>
    </p:spTree>
    <p:extLst>
      <p:ext uri="{BB962C8B-B14F-4D97-AF65-F5344CB8AC3E}">
        <p14:creationId xmlns:p14="http://schemas.microsoft.com/office/powerpoint/2010/main" val="33416944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242">
          <p15:clr>
            <a:srgbClr val="FBAE40"/>
          </p15:clr>
        </p15:guide>
        <p15:guide id="4" pos="43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A20F890-EF9E-18CA-9BED-2C0784FCA6C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5325" y="1064021"/>
            <a:ext cx="10801349" cy="4889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latin typeface="Tenorite" panose="000005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Section title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A8BDE0F-3F76-D100-69F9-50BD5A0E062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61693" y="6457950"/>
            <a:ext cx="2066925" cy="2476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  <a:latin typeface="Tenorite" panose="00000500000000000000" pitchFamily="2" charset="0"/>
              </a:defRPr>
            </a:lvl1pPr>
            <a:lvl5pPr marL="1828800" indent="0">
              <a:buNone/>
              <a:defRPr/>
            </a:lvl5pPr>
          </a:lstStyle>
          <a:p>
            <a:pPr lvl="0"/>
            <a:r>
              <a:rPr lang="en-US" sz="1200" dirty="0"/>
              <a:t>| Other Affiliation</a:t>
            </a:r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48B433A-094C-3303-86D1-7AD2C1B025EC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95325" y="1708942"/>
            <a:ext cx="10801349" cy="4425158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tx1"/>
              </a:buClr>
              <a:buSzPct val="120000"/>
              <a:buFont typeface="Wingdings" panose="05000000000000000000" pitchFamily="2" charset="2"/>
              <a:buChar char="§"/>
              <a:defRPr>
                <a:latin typeface="Tenorite" panose="00000500000000000000" pitchFamily="2" charset="0"/>
              </a:defRPr>
            </a:lvl1pPr>
            <a:lvl2pPr marL="685800" indent="-228600">
              <a:buClr>
                <a:schemeClr val="tx1"/>
              </a:buClr>
              <a:buSzPct val="120000"/>
              <a:buFont typeface="Arial" panose="020B0604020202020204" pitchFamily="34" charset="0"/>
              <a:buChar char="•"/>
              <a:defRPr>
                <a:latin typeface="Tenorite" panose="00000500000000000000" pitchFamily="2" charset="0"/>
              </a:defRPr>
            </a:lvl2pPr>
            <a:lvl3pPr marL="1143000" indent="-228600">
              <a:buClr>
                <a:schemeClr val="tx1"/>
              </a:buClr>
              <a:buSzPct val="70000"/>
              <a:buFont typeface="Courier New" panose="02070309020205020404" pitchFamily="49" charset="0"/>
              <a:buChar char="o"/>
              <a:defRPr>
                <a:latin typeface="Tenorite" panose="00000500000000000000" pitchFamily="2" charset="0"/>
              </a:defRPr>
            </a:lvl3pPr>
            <a:lvl4pPr>
              <a:defRPr>
                <a:latin typeface="Tenorite" panose="00000500000000000000" pitchFamily="2" charset="0"/>
              </a:defRPr>
            </a:lvl4pPr>
            <a:lvl5pPr>
              <a:defRPr>
                <a:latin typeface="Tenorite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653BD4C-139F-60CB-9AD9-794ADBF4921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5325" y="419100"/>
            <a:ext cx="10801350" cy="488951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algn="l">
              <a:defRPr sz="3200" b="0">
                <a:latin typeface="Tenorite" panose="000005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Chapter title</a:t>
            </a:r>
          </a:p>
        </p:txBody>
      </p:sp>
    </p:spTree>
    <p:extLst>
      <p:ext uri="{BB962C8B-B14F-4D97-AF65-F5344CB8AC3E}">
        <p14:creationId xmlns:p14="http://schemas.microsoft.com/office/powerpoint/2010/main" val="42023270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01212F2-AD75-5282-F049-FE5F50C966E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95325" y="1708942"/>
            <a:ext cx="5267325" cy="4425158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tx1"/>
              </a:buClr>
              <a:buSzPct val="120000"/>
              <a:buFont typeface="Wingdings" panose="05000000000000000000" pitchFamily="2" charset="2"/>
              <a:buChar char="§"/>
              <a:defRPr>
                <a:latin typeface="Tenorite" panose="00000500000000000000" pitchFamily="2" charset="0"/>
              </a:defRPr>
            </a:lvl1pPr>
            <a:lvl2pPr marL="685800" indent="-228600">
              <a:buClr>
                <a:schemeClr val="tx1"/>
              </a:buClr>
              <a:buSzPct val="120000"/>
              <a:buFont typeface="Arial" panose="020B0604020202020204" pitchFamily="34" charset="0"/>
              <a:buChar char="•"/>
              <a:defRPr>
                <a:latin typeface="Tenorite" panose="00000500000000000000" pitchFamily="2" charset="0"/>
              </a:defRPr>
            </a:lvl2pPr>
            <a:lvl3pPr marL="1143000" indent="-228600">
              <a:buClr>
                <a:schemeClr val="tx1"/>
              </a:buClr>
              <a:buSzPct val="70000"/>
              <a:buFont typeface="Courier New" panose="02070309020205020404" pitchFamily="49" charset="0"/>
              <a:buChar char="o"/>
              <a:defRPr>
                <a:latin typeface="Tenorite" panose="00000500000000000000" pitchFamily="2" charset="0"/>
              </a:defRPr>
            </a:lvl3pPr>
            <a:lvl4pPr>
              <a:defRPr>
                <a:latin typeface="Tenorite" panose="00000500000000000000" pitchFamily="2" charset="0"/>
              </a:defRPr>
            </a:lvl4pPr>
            <a:lvl5pPr>
              <a:defRPr>
                <a:latin typeface="Tenorite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F8DC83D7-35A8-DE1D-A152-4B36C04F37B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5325" y="1064021"/>
            <a:ext cx="10801350" cy="4889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latin typeface="Tenorite" panose="000005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Section title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942DA73E-5499-D678-0D7E-F9FCF94F5739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6229349" y="1708941"/>
            <a:ext cx="5267325" cy="442515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latin typeface="Tenorite" panose="00000500000000000000" pitchFamily="2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EE342B-F69F-97B5-E76E-81F128887A2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5325" y="419100"/>
            <a:ext cx="10801351" cy="488951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algn="l">
              <a:defRPr sz="3200" b="0">
                <a:latin typeface="Tenorite" panose="000005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Chapter title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7CD5271C-09F0-83BC-3F34-FF78B0157F7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161693" y="6457950"/>
            <a:ext cx="2066925" cy="2476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  <a:latin typeface="Tenorite" panose="00000500000000000000" pitchFamily="2" charset="0"/>
              </a:defRPr>
            </a:lvl1pPr>
            <a:lvl5pPr marL="1828800" indent="0">
              <a:buNone/>
              <a:defRPr/>
            </a:lvl5pPr>
          </a:lstStyle>
          <a:p>
            <a:pPr lvl="0"/>
            <a:r>
              <a:rPr lang="en-US" sz="1200" dirty="0"/>
              <a:t>| Other Affiliation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10994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F94EB81-1B4E-11BF-89B8-5F4BAAC301FD}"/>
              </a:ext>
            </a:extLst>
          </p:cNvPr>
          <p:cNvSpPr/>
          <p:nvPr/>
        </p:nvSpPr>
        <p:spPr>
          <a:xfrm>
            <a:off x="0" y="3143123"/>
            <a:ext cx="12192000" cy="1017508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Corbel" panose="020B0503020204020204" pitchFamily="34" charset="0"/>
            </a:endParaRPr>
          </a:p>
        </p:txBody>
      </p:sp>
      <p:pic>
        <p:nvPicPr>
          <p:cNvPr id="1026" name="Picture 2" descr="Service Santé Étudiante Université Côte d'Azur">
            <a:extLst>
              <a:ext uri="{FF2B5EF4-FFF2-40B4-BE49-F238E27FC236}">
                <a16:creationId xmlns:a16="http://schemas.microsoft.com/office/drawing/2014/main" id="{2D39D8EB-BD59-64E7-EDCD-5EDF834A4A5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651" y="318654"/>
            <a:ext cx="2752437" cy="11154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8E284C1-0CF3-205F-F9C7-532C710B0056}"/>
              </a:ext>
            </a:extLst>
          </p:cNvPr>
          <p:cNvSpPr/>
          <p:nvPr userDrawn="1"/>
        </p:nvSpPr>
        <p:spPr>
          <a:xfrm>
            <a:off x="0" y="6308725"/>
            <a:ext cx="12192000" cy="549275"/>
          </a:xfrm>
          <a:prstGeom prst="rect">
            <a:avLst/>
          </a:prstGeom>
          <a:ln>
            <a:solidFill>
              <a:srgbClr val="007FA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enorite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52768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9FC4200-57ED-CECD-3E35-7891AB798BE8}"/>
              </a:ext>
            </a:extLst>
          </p:cNvPr>
          <p:cNvSpPr/>
          <p:nvPr/>
        </p:nvSpPr>
        <p:spPr>
          <a:xfrm>
            <a:off x="0" y="6308725"/>
            <a:ext cx="12192000" cy="549275"/>
          </a:xfrm>
          <a:prstGeom prst="rect">
            <a:avLst/>
          </a:prstGeom>
          <a:ln>
            <a:solidFill>
              <a:srgbClr val="007FA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enorite" panose="00000500000000000000" pitchFamily="2" charset="0"/>
            </a:endParaRP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313E8DEB-298A-037E-AC57-ACD6903D9D06}"/>
              </a:ext>
            </a:extLst>
          </p:cNvPr>
          <p:cNvSpPr txBox="1">
            <a:spLocks/>
          </p:cNvSpPr>
          <p:nvPr/>
        </p:nvSpPr>
        <p:spPr>
          <a:xfrm>
            <a:off x="695326" y="640079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bg1"/>
              </a:solidFill>
              <a:latin typeface="Tenorite" panose="00000500000000000000" pitchFamily="2" charset="0"/>
            </a:endParaRP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2A9B348E-D6EA-C14D-29E3-F89BE46A3C69}"/>
              </a:ext>
            </a:extLst>
          </p:cNvPr>
          <p:cNvSpPr txBox="1">
            <a:spLocks/>
          </p:cNvSpPr>
          <p:nvPr/>
        </p:nvSpPr>
        <p:spPr>
          <a:xfrm>
            <a:off x="8753475" y="640079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A0D5E0E-B28D-4390-9937-501DCF201415}" type="slidenum">
              <a:rPr lang="en-US" smtClean="0">
                <a:solidFill>
                  <a:schemeClr val="bg1"/>
                </a:solidFill>
                <a:latin typeface="Tenorite" panose="00000500000000000000" pitchFamily="2" charset="0"/>
              </a:rPr>
              <a:pPr/>
              <a:t>‹N°›</a:t>
            </a:fld>
            <a:endParaRPr lang="en-US" dirty="0">
              <a:solidFill>
                <a:schemeClr val="bg1"/>
              </a:solidFill>
              <a:latin typeface="Tenorite" panose="00000500000000000000" pitchFamily="2" charset="0"/>
            </a:endParaRPr>
          </a:p>
        </p:txBody>
      </p:sp>
      <p:pic>
        <p:nvPicPr>
          <p:cNvPr id="3" name="Picture 2" descr="A black and white logo&#10;&#10;Description automatically generated">
            <a:extLst>
              <a:ext uri="{FF2B5EF4-FFF2-40B4-BE49-F238E27FC236}">
                <a16:creationId xmlns:a16="http://schemas.microsoft.com/office/drawing/2014/main" id="{66145C1E-ACAA-7FBB-6A7B-9CA8687F97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325" y="6308725"/>
            <a:ext cx="2536826" cy="55641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D54F4AB-7833-8FE7-AB29-DA6EBAD44D87}"/>
              </a:ext>
            </a:extLst>
          </p:cNvPr>
          <p:cNvSpPr/>
          <p:nvPr userDrawn="1"/>
        </p:nvSpPr>
        <p:spPr>
          <a:xfrm>
            <a:off x="2022762" y="6400799"/>
            <a:ext cx="1246333" cy="365125"/>
          </a:xfrm>
          <a:prstGeom prst="rect">
            <a:avLst/>
          </a:prstGeom>
          <a:ln>
            <a:solidFill>
              <a:srgbClr val="007FA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61125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000000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7242">
          <p15:clr>
            <a:srgbClr val="F26B43"/>
          </p15:clr>
        </p15:guide>
        <p15:guide id="3" orient="horz" pos="572">
          <p15:clr>
            <a:srgbClr val="F26B43"/>
          </p15:clr>
        </p15:guide>
        <p15:guide id="4" orient="horz" pos="3974">
          <p15:clr>
            <a:srgbClr val="F26B43"/>
          </p15:clr>
        </p15:guide>
        <p15:guide id="5" pos="43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mp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jpg"/><Relationship Id="rId5" Type="http://schemas.openxmlformats.org/officeDocument/2006/relationships/image" Target="../media/image8.png"/><Relationship Id="rId4" Type="http://schemas.openxmlformats.org/officeDocument/2006/relationships/image" Target="../media/image7.tmp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mp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D32CE10-2522-7678-7A2F-FBC2FACCA5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59489" y="2358546"/>
            <a:ext cx="4134465" cy="489637"/>
          </a:xfrm>
          <a:solidFill>
            <a:schemeClr val="bg1"/>
          </a:solidFill>
        </p:spPr>
        <p:txBody>
          <a:bodyPr>
            <a:normAutofit/>
          </a:bodyPr>
          <a:lstStyle/>
          <a:p>
            <a:pPr algn="ctr"/>
            <a:r>
              <a:rPr lang="fr-FR" sz="2400" dirty="0"/>
              <a:t>Système de </a:t>
            </a:r>
            <a:r>
              <a:rPr lang="fr-FR" sz="2400" dirty="0" err="1"/>
              <a:t>Tracking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927B92-244A-D381-8E76-AE8743C2F85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521247" y="3052500"/>
            <a:ext cx="3227746" cy="1150661"/>
          </a:xfrm>
        </p:spPr>
        <p:txBody>
          <a:bodyPr/>
          <a:lstStyle/>
          <a:p>
            <a:pPr algn="ctr"/>
            <a:r>
              <a:rPr lang="en-US" dirty="0" err="1">
                <a:cs typeface="Times New Roman" panose="02020603050405020304" pitchFamily="18" charset="0"/>
              </a:rPr>
              <a:t>Présenté</a:t>
            </a:r>
            <a:r>
              <a:rPr lang="en-US" dirty="0">
                <a:cs typeface="Times New Roman" panose="02020603050405020304" pitchFamily="18" charset="0"/>
              </a:rPr>
              <a:t> par :</a:t>
            </a:r>
          </a:p>
          <a:p>
            <a:pPr algn="ctr"/>
            <a:r>
              <a:rPr lang="en-US" b="1" dirty="0">
                <a:cs typeface="Times New Roman" panose="02020603050405020304" pitchFamily="18" charset="0"/>
              </a:rPr>
              <a:t>Galci Jostin BASSO-BIBILA</a:t>
            </a:r>
          </a:p>
          <a:p>
            <a:pPr algn="ctr"/>
            <a:r>
              <a:rPr lang="en-US" b="1" dirty="0">
                <a:cs typeface="Times New Roman" panose="02020603050405020304" pitchFamily="18" charset="0"/>
              </a:rPr>
              <a:t>Nouhaila OUFASKI</a:t>
            </a:r>
          </a:p>
          <a:p>
            <a:pPr algn="ctr"/>
            <a:endParaRPr lang="en-US" b="1" dirty="0">
              <a:cs typeface="Times New Roman" panose="02020603050405020304" pitchFamily="18" charset="0"/>
            </a:endParaRPr>
          </a:p>
        </p:txBody>
      </p:sp>
      <p:sp>
        <p:nvSpPr>
          <p:cNvPr id="4" name="Organigramme : Alternative 3">
            <a:extLst>
              <a:ext uri="{FF2B5EF4-FFF2-40B4-BE49-F238E27FC236}">
                <a16:creationId xmlns:a16="http://schemas.microsoft.com/office/drawing/2014/main" id="{264C4859-4656-168D-5F36-F2B0311371EF}"/>
              </a:ext>
            </a:extLst>
          </p:cNvPr>
          <p:cNvSpPr/>
          <p:nvPr/>
        </p:nvSpPr>
        <p:spPr>
          <a:xfrm>
            <a:off x="1721389" y="2257967"/>
            <a:ext cx="4810663" cy="685190"/>
          </a:xfrm>
          <a:prstGeom prst="flowChartAlternateProcess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0F8C7D35-669C-C5B8-0B18-3EFF35E36923}"/>
              </a:ext>
            </a:extLst>
          </p:cNvPr>
          <p:cNvSpPr txBox="1">
            <a:spLocks/>
          </p:cNvSpPr>
          <p:nvPr/>
        </p:nvSpPr>
        <p:spPr>
          <a:xfrm>
            <a:off x="593468" y="4763474"/>
            <a:ext cx="3888659" cy="794046"/>
          </a:xfrm>
          <a:prstGeom prst="rect">
            <a:avLst/>
          </a:prstGeom>
        </p:spPr>
        <p:txBody>
          <a:bodyPr/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rgbClr val="000000"/>
                </a:solidFill>
                <a:latin typeface="Tenorite" panose="000005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 err="1">
                <a:cs typeface="Times New Roman" panose="02020603050405020304" pitchFamily="18" charset="0"/>
              </a:rPr>
              <a:t>Encadré</a:t>
            </a:r>
            <a:r>
              <a:rPr lang="en-US" dirty="0">
                <a:cs typeface="Times New Roman" panose="02020603050405020304" pitchFamily="18" charset="0"/>
              </a:rPr>
              <a:t> par : 	</a:t>
            </a:r>
            <a:r>
              <a:rPr lang="en-US" b="1" dirty="0">
                <a:cs typeface="Times New Roman" panose="02020603050405020304" pitchFamily="18" charset="0"/>
              </a:rPr>
              <a:t>Fabien FERRERO</a:t>
            </a:r>
          </a:p>
          <a:p>
            <a:pPr algn="l"/>
            <a:r>
              <a:rPr lang="fr-FR" dirty="0"/>
              <a:t>		</a:t>
            </a:r>
            <a:r>
              <a:rPr lang="fr-FR" b="1" dirty="0"/>
              <a:t>Jérôme LANTERI</a:t>
            </a:r>
            <a:endParaRPr lang="en-US" b="1" dirty="0">
              <a:cs typeface="Times New Roman" panose="02020603050405020304" pitchFamily="18" charset="0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2DD6983D-E084-4D28-5CF9-2DE450C7BBBD}"/>
              </a:ext>
            </a:extLst>
          </p:cNvPr>
          <p:cNvSpPr txBox="1"/>
          <p:nvPr/>
        </p:nvSpPr>
        <p:spPr>
          <a:xfrm>
            <a:off x="3947651" y="6459343"/>
            <a:ext cx="4296697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Année-académique : 2025-2026</a:t>
            </a:r>
          </a:p>
        </p:txBody>
      </p:sp>
      <p:pic>
        <p:nvPicPr>
          <p:cNvPr id="8" name="Image 7" descr="Une image contenant capture d’écran, art, Graphique, bleu vert&#10;&#10;Le contenu généré par l’IA peut être incorrect.">
            <a:extLst>
              <a:ext uri="{FF2B5EF4-FFF2-40B4-BE49-F238E27FC236}">
                <a16:creationId xmlns:a16="http://schemas.microsoft.com/office/drawing/2014/main" id="{30863479-417F-934C-B67C-1294AF2133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7112" y="0"/>
            <a:ext cx="5384888" cy="6302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81243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ED85EA1-E6B5-53BF-C385-EAAEC74D7C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cs typeface="Times New Roman" panose="02020603050405020304" pitchFamily="18" charset="0"/>
              </a:rPr>
              <a:t>Plan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98EF3BF-4308-F5C8-9FEE-B623F18161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13C4F0E1-C32E-4AFB-C6B0-6D1F6D6BDE44}"/>
              </a:ext>
            </a:extLst>
          </p:cNvPr>
          <p:cNvSpPr txBox="1"/>
          <p:nvPr/>
        </p:nvSpPr>
        <p:spPr>
          <a:xfrm>
            <a:off x="786581" y="1101213"/>
            <a:ext cx="4522838" cy="3782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00050" indent="-400050">
              <a:lnSpc>
                <a:spcPct val="150000"/>
              </a:lnSpc>
              <a:buFont typeface="+mj-lt"/>
              <a:buAutoNum type="romanUcPeriod"/>
            </a:pPr>
            <a:r>
              <a:rPr lang="fr-FR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400050" indent="-400050">
              <a:lnSpc>
                <a:spcPct val="150000"/>
              </a:lnSpc>
              <a:buFont typeface="+mj-lt"/>
              <a:buAutoNum type="romanUcPeriod"/>
            </a:pPr>
            <a:r>
              <a:rPr lang="fr-FR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du Système</a:t>
            </a:r>
          </a:p>
          <a:p>
            <a:pPr marL="400050" indent="-400050">
              <a:lnSpc>
                <a:spcPct val="150000"/>
              </a:lnSpc>
              <a:buFont typeface="+mj-lt"/>
              <a:buAutoNum type="romanUcPeriod"/>
            </a:pPr>
            <a:r>
              <a:rPr lang="fr-FR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Système Embarqué</a:t>
            </a:r>
          </a:p>
          <a:p>
            <a:pPr marL="400050" indent="-400050">
              <a:lnSpc>
                <a:spcPct val="150000"/>
              </a:lnSpc>
              <a:buFont typeface="+mj-lt"/>
              <a:buAutoNum type="romanUcPeriod"/>
            </a:pPr>
            <a:r>
              <a:rPr lang="fr-FR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Transmission LoRa &amp; BLE</a:t>
            </a:r>
          </a:p>
          <a:p>
            <a:pPr marL="400050" indent="-400050">
              <a:lnSpc>
                <a:spcPct val="150000"/>
              </a:lnSpc>
              <a:buFont typeface="+mj-lt"/>
              <a:buAutoNum type="romanUcPeriod"/>
            </a:pPr>
            <a:r>
              <a:rPr lang="fr-FR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Traitement Node-</a:t>
            </a:r>
            <a:r>
              <a:rPr lang="fr-FR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</a:t>
            </a:r>
            <a:endParaRPr lang="fr-FR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indent="-400050">
              <a:lnSpc>
                <a:spcPct val="150000"/>
              </a:lnSpc>
              <a:buFont typeface="+mj-lt"/>
              <a:buAutoNum type="romanUcPeriod"/>
            </a:pPr>
            <a:r>
              <a:rPr lang="fr-FR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Visualisation </a:t>
            </a:r>
            <a:r>
              <a:rPr lang="fr-FR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Grafana</a:t>
            </a:r>
            <a:endParaRPr lang="fr-FR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indent="-400050">
              <a:lnSpc>
                <a:spcPct val="150000"/>
              </a:lnSpc>
              <a:buFont typeface="+mj-lt"/>
              <a:buAutoNum type="romanUcPeriod"/>
            </a:pPr>
            <a:r>
              <a:rPr lang="fr-FR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Gestion énergétique</a:t>
            </a:r>
          </a:p>
          <a:p>
            <a:pPr marL="400050" indent="-400050">
              <a:lnSpc>
                <a:spcPct val="150000"/>
              </a:lnSpc>
              <a:buFont typeface="+mj-lt"/>
              <a:buAutoNum type="romanUcPeriod"/>
            </a:pPr>
            <a:r>
              <a:rPr lang="fr-FR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Difficultés rencontrées</a:t>
            </a:r>
          </a:p>
          <a:p>
            <a:pPr marL="400050" indent="-400050">
              <a:lnSpc>
                <a:spcPct val="150000"/>
              </a:lnSpc>
              <a:buFont typeface="+mj-lt"/>
              <a:buAutoNum type="romanUcPeriod"/>
            </a:pPr>
            <a:r>
              <a:rPr lang="fr-FR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Perspectives</a:t>
            </a:r>
          </a:p>
        </p:txBody>
      </p:sp>
    </p:spTree>
    <p:extLst>
      <p:ext uri="{BB962C8B-B14F-4D97-AF65-F5344CB8AC3E}">
        <p14:creationId xmlns:p14="http://schemas.microsoft.com/office/powerpoint/2010/main" val="7201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0B562D-2182-CFBB-A5BA-15051DD0B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6EDCE09-5070-EE54-005A-4F8510CBC85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cs typeface="Times New Roman" panose="02020603050405020304" pitchFamily="18" charset="0"/>
              </a:rPr>
              <a:t>I. Introduction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0EB900A-7A84-4211-04BC-5E37B5ED8EB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" name="Picture 2" descr="A Review of Emerging Technologies for IoT-Based Smart Cities">
            <a:extLst>
              <a:ext uri="{FF2B5EF4-FFF2-40B4-BE49-F238E27FC236}">
                <a16:creationId xmlns:a16="http://schemas.microsoft.com/office/drawing/2014/main" id="{9BB52976-75FE-2194-C056-B9AB556AF7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9366" y="327316"/>
            <a:ext cx="3807525" cy="3802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407F37EB-C0A1-99FA-ECF5-70FC9603A13E}"/>
              </a:ext>
            </a:extLst>
          </p:cNvPr>
          <p:cNvSpPr txBox="1"/>
          <p:nvPr/>
        </p:nvSpPr>
        <p:spPr>
          <a:xfrm>
            <a:off x="3052194" y="1988616"/>
            <a:ext cx="2987920" cy="460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b="1" dirty="0" err="1">
                <a:solidFill>
                  <a:schemeClr val="tx2"/>
                </a:solidFill>
                <a:latin typeface="Tenorite" panose="00000500000000000000" pitchFamily="2" charset="0"/>
              </a:rPr>
              <a:t>Croissance</a:t>
            </a:r>
            <a:r>
              <a:rPr lang="en-US" b="1" dirty="0">
                <a:solidFill>
                  <a:schemeClr val="tx2"/>
                </a:solidFill>
                <a:latin typeface="Tenorite" panose="00000500000000000000" pitchFamily="2" charset="0"/>
              </a:rPr>
              <a:t> IoT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9C09B76C-4501-AE6D-CFC4-596CC819B748}"/>
              </a:ext>
            </a:extLst>
          </p:cNvPr>
          <p:cNvSpPr txBox="1"/>
          <p:nvPr/>
        </p:nvSpPr>
        <p:spPr>
          <a:xfrm>
            <a:off x="927100" y="4408425"/>
            <a:ext cx="4894580" cy="1711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b="0" i="0" dirty="0">
                <a:solidFill>
                  <a:schemeClr val="tx2"/>
                </a:solidFill>
                <a:effectLst/>
              </a:rPr>
              <a:t>Suivi de position en temps réel</a:t>
            </a:r>
            <a:endParaRPr lang="fr-FR" dirty="0">
              <a:solidFill>
                <a:schemeClr val="tx2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b="0" i="0" dirty="0">
                <a:solidFill>
                  <a:schemeClr val="tx2"/>
                </a:solidFill>
                <a:effectLst/>
              </a:rPr>
              <a:t>Transmission longue portée via LoRa</a:t>
            </a:r>
            <a:endParaRPr lang="fr-FR" dirty="0">
              <a:solidFill>
                <a:schemeClr val="tx2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b="0" i="0" dirty="0">
                <a:solidFill>
                  <a:schemeClr val="tx2"/>
                </a:solidFill>
                <a:effectLst/>
              </a:rPr>
              <a:t>Alertes locales via BLE</a:t>
            </a:r>
            <a:endParaRPr lang="fr-FR" dirty="0">
              <a:solidFill>
                <a:schemeClr val="tx2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b="0" i="0" dirty="0">
                <a:solidFill>
                  <a:schemeClr val="tx2"/>
                </a:solidFill>
                <a:effectLst/>
              </a:rPr>
              <a:t>Optimisation de la consommation énergétique</a:t>
            </a:r>
            <a:endParaRPr lang="fr-FR" dirty="0">
              <a:solidFill>
                <a:schemeClr val="tx2"/>
              </a:solidFill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87C92220-C9BD-E37E-01DF-3B47569EED4D}"/>
              </a:ext>
            </a:extLst>
          </p:cNvPr>
          <p:cNvSpPr txBox="1"/>
          <p:nvPr/>
        </p:nvSpPr>
        <p:spPr>
          <a:xfrm>
            <a:off x="1092855" y="3839433"/>
            <a:ext cx="36144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/>
              <a:t>Système de </a:t>
            </a:r>
            <a:r>
              <a:rPr lang="fr-FR" sz="2400" b="1" dirty="0" err="1"/>
              <a:t>Tracking</a:t>
            </a:r>
            <a:endParaRPr lang="fr-FR" sz="2400" b="1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658A2B90-1DD7-AE5C-F0FE-962CB7C2B7C0}"/>
              </a:ext>
            </a:extLst>
          </p:cNvPr>
          <p:cNvSpPr txBox="1"/>
          <p:nvPr/>
        </p:nvSpPr>
        <p:spPr>
          <a:xfrm>
            <a:off x="9251316" y="3191499"/>
            <a:ext cx="1765300" cy="1295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dirty="0">
                <a:solidFill>
                  <a:schemeClr val="tx2"/>
                </a:solidFill>
              </a:rPr>
              <a:t>autonomie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dirty="0">
                <a:solidFill>
                  <a:schemeClr val="tx2"/>
                </a:solidFill>
              </a:rPr>
              <a:t>portée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dirty="0">
                <a:solidFill>
                  <a:schemeClr val="tx2"/>
                </a:solidFill>
              </a:rPr>
              <a:t>fiabilité</a:t>
            </a:r>
          </a:p>
        </p:txBody>
      </p:sp>
    </p:spTree>
    <p:extLst>
      <p:ext uri="{BB962C8B-B14F-4D97-AF65-F5344CB8AC3E}">
        <p14:creationId xmlns:p14="http://schemas.microsoft.com/office/powerpoint/2010/main" val="3650085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10" grpId="0"/>
      <p:bldP spid="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2EEA5-BE64-2D64-C15E-CA80B1224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1C0B4F6-62B1-84FD-7BC5-49E4ACF23CF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cs typeface="Times New Roman" panose="02020603050405020304" pitchFamily="18" charset="0"/>
              </a:rPr>
              <a:t>II. Architecture du Système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41C797F-1AC1-6651-2295-8E3EAC92A0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D47C7EEF-CFA8-2FD9-D522-8A42B1BD3BC7}"/>
              </a:ext>
            </a:extLst>
          </p:cNvPr>
          <p:cNvGrpSpPr/>
          <p:nvPr/>
        </p:nvGrpSpPr>
        <p:grpSpPr>
          <a:xfrm>
            <a:off x="0" y="1510051"/>
            <a:ext cx="12116766" cy="3154800"/>
            <a:chOff x="0" y="1510051"/>
            <a:chExt cx="12116766" cy="3154800"/>
          </a:xfrm>
        </p:grpSpPr>
        <p:grpSp>
          <p:nvGrpSpPr>
            <p:cNvPr id="50" name="Groupe 49">
              <a:extLst>
                <a:ext uri="{FF2B5EF4-FFF2-40B4-BE49-F238E27FC236}">
                  <a16:creationId xmlns:a16="http://schemas.microsoft.com/office/drawing/2014/main" id="{46E2CD11-876F-A893-2C0F-CA3D3C2A69F8}"/>
                </a:ext>
              </a:extLst>
            </p:cNvPr>
            <p:cNvGrpSpPr/>
            <p:nvPr/>
          </p:nvGrpSpPr>
          <p:grpSpPr>
            <a:xfrm>
              <a:off x="0" y="1510051"/>
              <a:ext cx="12116766" cy="3154800"/>
              <a:chOff x="735081" y="943949"/>
              <a:chExt cx="12116766" cy="3154800"/>
            </a:xfrm>
          </p:grpSpPr>
          <p:sp>
            <p:nvSpPr>
              <p:cNvPr id="46" name="ZoneTexte 45">
                <a:extLst>
                  <a:ext uri="{FF2B5EF4-FFF2-40B4-BE49-F238E27FC236}">
                    <a16:creationId xmlns:a16="http://schemas.microsoft.com/office/drawing/2014/main" id="{DAA2B0EF-AA3F-E07A-94B8-7F8B9358CD32}"/>
                  </a:ext>
                </a:extLst>
              </p:cNvPr>
              <p:cNvSpPr txBox="1"/>
              <p:nvPr/>
            </p:nvSpPr>
            <p:spPr>
              <a:xfrm>
                <a:off x="6182166" y="3729417"/>
                <a:ext cx="208215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b="1" dirty="0">
                    <a:latin typeface="Tenorite" panose="00000500000000000000" pitchFamily="2" charset="0"/>
                  </a:rPr>
                  <a:t>Alertes</a:t>
                </a:r>
              </a:p>
            </p:txBody>
          </p:sp>
          <p:grpSp>
            <p:nvGrpSpPr>
              <p:cNvPr id="49" name="Groupe 48">
                <a:extLst>
                  <a:ext uri="{FF2B5EF4-FFF2-40B4-BE49-F238E27FC236}">
                    <a16:creationId xmlns:a16="http://schemas.microsoft.com/office/drawing/2014/main" id="{6F52C151-3744-6047-D0A7-43775D657327}"/>
                  </a:ext>
                </a:extLst>
              </p:cNvPr>
              <p:cNvGrpSpPr/>
              <p:nvPr/>
            </p:nvGrpSpPr>
            <p:grpSpPr>
              <a:xfrm>
                <a:off x="735081" y="943949"/>
                <a:ext cx="12116766" cy="2739051"/>
                <a:chOff x="735081" y="943949"/>
                <a:chExt cx="12116766" cy="2739051"/>
              </a:xfrm>
            </p:grpSpPr>
            <p:grpSp>
              <p:nvGrpSpPr>
                <p:cNvPr id="41" name="Groupe 40">
                  <a:extLst>
                    <a:ext uri="{FF2B5EF4-FFF2-40B4-BE49-F238E27FC236}">
                      <a16:creationId xmlns:a16="http://schemas.microsoft.com/office/drawing/2014/main" id="{22A5F301-4FED-7131-FF1B-2E281150CAF6}"/>
                    </a:ext>
                  </a:extLst>
                </p:cNvPr>
                <p:cNvGrpSpPr/>
                <p:nvPr/>
              </p:nvGrpSpPr>
              <p:grpSpPr>
                <a:xfrm>
                  <a:off x="1098221" y="1280844"/>
                  <a:ext cx="11422075" cy="2402156"/>
                  <a:chOff x="1306942" y="1553832"/>
                  <a:chExt cx="11422075" cy="2402156"/>
                </a:xfrm>
              </p:grpSpPr>
              <p:grpSp>
                <p:nvGrpSpPr>
                  <p:cNvPr id="32" name="Groupe 31">
                    <a:extLst>
                      <a:ext uri="{FF2B5EF4-FFF2-40B4-BE49-F238E27FC236}">
                        <a16:creationId xmlns:a16="http://schemas.microsoft.com/office/drawing/2014/main" id="{4AC23FC3-6E08-2580-E6A8-2D284BC856AC}"/>
                      </a:ext>
                    </a:extLst>
                  </p:cNvPr>
                  <p:cNvGrpSpPr/>
                  <p:nvPr/>
                </p:nvGrpSpPr>
                <p:grpSpPr>
                  <a:xfrm>
                    <a:off x="1306942" y="1599273"/>
                    <a:ext cx="11422075" cy="2356715"/>
                    <a:chOff x="2211403" y="1122195"/>
                    <a:chExt cx="11422075" cy="2356715"/>
                  </a:xfrm>
                </p:grpSpPr>
                <p:grpSp>
                  <p:nvGrpSpPr>
                    <p:cNvPr id="4" name="Groupe 3">
                      <a:extLst>
                        <a:ext uri="{FF2B5EF4-FFF2-40B4-BE49-F238E27FC236}">
                          <a16:creationId xmlns:a16="http://schemas.microsoft.com/office/drawing/2014/main" id="{8BD956AE-5290-C95C-B3AB-9119A290765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999489" y="1122195"/>
                      <a:ext cx="8633989" cy="1490912"/>
                      <a:chOff x="5148576" y="364875"/>
                      <a:chExt cx="8633989" cy="1490912"/>
                    </a:xfrm>
                  </p:grpSpPr>
                  <p:sp>
                    <p:nvSpPr>
                      <p:cNvPr id="7" name="Rectangle : coins arrondis 6">
                        <a:extLst>
                          <a:ext uri="{FF2B5EF4-FFF2-40B4-BE49-F238E27FC236}">
                            <a16:creationId xmlns:a16="http://schemas.microsoft.com/office/drawing/2014/main" id="{CD476A8C-A792-ACFA-E3C1-D9FBE6BDE7B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148576" y="1197026"/>
                        <a:ext cx="1394043" cy="658761"/>
                      </a:xfrm>
                      <a:prstGeom prst="roundRect">
                        <a:avLst/>
                      </a:prstGeom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fr-FR" dirty="0">
                            <a:latin typeface="Tenorite" panose="00000500000000000000" pitchFamily="2" charset="0"/>
                          </a:rPr>
                          <a:t>Relay</a:t>
                        </a:r>
                      </a:p>
                    </p:txBody>
                  </p:sp>
                  <p:cxnSp>
                    <p:nvCxnSpPr>
                      <p:cNvPr id="10" name="Connecteur droit avec flèche 9">
                        <a:extLst>
                          <a:ext uri="{FF2B5EF4-FFF2-40B4-BE49-F238E27FC236}">
                            <a16:creationId xmlns:a16="http://schemas.microsoft.com/office/drawing/2014/main" id="{E986E018-FEA9-7C39-C865-4D2B6ABE3CCC}"/>
                          </a:ext>
                        </a:extLst>
                      </p:cNvPr>
                      <p:cNvCxnSpPr>
                        <a:cxnSpLocks/>
                        <a:endCxn id="12" idx="1"/>
                      </p:cNvCxnSpPr>
                      <p:nvPr/>
                    </p:nvCxnSpPr>
                    <p:spPr>
                      <a:xfrm flipV="1">
                        <a:off x="6542619" y="705590"/>
                        <a:ext cx="1229253" cy="692202"/>
                      </a:xfrm>
                      <a:prstGeom prst="straightConnector1">
                        <a:avLst/>
                      </a:prstGeom>
                      <a:ln w="28575">
                        <a:tailEnd type="triangl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12" name="Rectangle : coins arrondis 11">
                        <a:extLst>
                          <a:ext uri="{FF2B5EF4-FFF2-40B4-BE49-F238E27FC236}">
                            <a16:creationId xmlns:a16="http://schemas.microsoft.com/office/drawing/2014/main" id="{86C6F40D-74EA-EC28-3291-681F43E6B80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771872" y="376209"/>
                        <a:ext cx="1427280" cy="658761"/>
                      </a:xfrm>
                      <a:prstGeom prst="roundRect">
                        <a:avLst/>
                      </a:prstGeom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fr-FR" dirty="0">
                            <a:latin typeface="Tenorite" panose="00000500000000000000" pitchFamily="2" charset="0"/>
                          </a:rPr>
                          <a:t>Satellite</a:t>
                        </a:r>
                      </a:p>
                    </p:txBody>
                  </p:sp>
                  <p:cxnSp>
                    <p:nvCxnSpPr>
                      <p:cNvPr id="16" name="Connecteur droit avec flèche 15">
                        <a:extLst>
                          <a:ext uri="{FF2B5EF4-FFF2-40B4-BE49-F238E27FC236}">
                            <a16:creationId xmlns:a16="http://schemas.microsoft.com/office/drawing/2014/main" id="{E19834EB-DDBC-F9EC-58FE-580255D485A0}"/>
                          </a:ext>
                        </a:extLst>
                      </p:cNvPr>
                      <p:cNvCxnSpPr>
                        <a:cxnSpLocks/>
                        <a:stCxn id="2" idx="3"/>
                        <a:endCxn id="17" idx="1"/>
                      </p:cNvCxnSpPr>
                      <p:nvPr/>
                    </p:nvCxnSpPr>
                    <p:spPr>
                      <a:xfrm flipV="1">
                        <a:off x="11390400" y="694256"/>
                        <a:ext cx="926741" cy="6060"/>
                      </a:xfrm>
                      <a:prstGeom prst="straightConnector1">
                        <a:avLst/>
                      </a:prstGeom>
                      <a:ln w="28575">
                        <a:tailEnd type="triangl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17" name="Rectangle : coins arrondis 16">
                        <a:extLst>
                          <a:ext uri="{FF2B5EF4-FFF2-40B4-BE49-F238E27FC236}">
                            <a16:creationId xmlns:a16="http://schemas.microsoft.com/office/drawing/2014/main" id="{57661EC9-CC12-3D47-9391-AA97243A10C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317141" y="364875"/>
                        <a:ext cx="1465424" cy="658761"/>
                      </a:xfrm>
                      <a:prstGeom prst="roundRect">
                        <a:avLst/>
                      </a:prstGeom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fr-FR" dirty="0" err="1">
                            <a:latin typeface="Tenorite" panose="00000500000000000000" pitchFamily="2" charset="0"/>
                          </a:rPr>
                          <a:t>Grafana</a:t>
                        </a:r>
                        <a:endParaRPr lang="fr-FR" dirty="0">
                          <a:latin typeface="Tenorite" panose="00000500000000000000" pitchFamily="2" charset="0"/>
                        </a:endParaRPr>
                      </a:p>
                    </p:txBody>
                  </p:sp>
                </p:grpSp>
                <p:sp>
                  <p:nvSpPr>
                    <p:cNvPr id="22" name="Rectangle : coins arrondis 21">
                      <a:extLst>
                        <a:ext uri="{FF2B5EF4-FFF2-40B4-BE49-F238E27FC236}">
                          <a16:creationId xmlns:a16="http://schemas.microsoft.com/office/drawing/2014/main" id="{934836D0-D1E8-63B5-A0FB-E3DF086588B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622785" y="2820149"/>
                      <a:ext cx="1427280" cy="658761"/>
                    </a:xfrm>
                    <a:prstGeom prst="roundRect">
                      <a:avLst/>
                    </a:prstGeom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fr-FR" dirty="0" err="1">
                          <a:latin typeface="Tenorite" panose="00000500000000000000" pitchFamily="2" charset="0"/>
                        </a:rPr>
                        <a:t>Telephone</a:t>
                      </a:r>
                      <a:endParaRPr lang="fr-FR" dirty="0">
                        <a:latin typeface="Tenorite" panose="00000500000000000000" pitchFamily="2" charset="0"/>
                      </a:endParaRPr>
                    </a:p>
                  </p:txBody>
                </p:sp>
                <p:sp>
                  <p:nvSpPr>
                    <p:cNvPr id="23" name="Rectangle : coins arrondis 22">
                      <a:extLst>
                        <a:ext uri="{FF2B5EF4-FFF2-40B4-BE49-F238E27FC236}">
                          <a16:creationId xmlns:a16="http://schemas.microsoft.com/office/drawing/2014/main" id="{AAED79A8-9DB1-7881-1A54-F001F46BCE3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211403" y="1954346"/>
                      <a:ext cx="1394043" cy="658761"/>
                    </a:xfrm>
                    <a:prstGeom prst="roundRect">
                      <a:avLst/>
                    </a:prstGeom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fr-FR" dirty="0">
                          <a:latin typeface="Tenorite" panose="00000500000000000000" pitchFamily="2" charset="0"/>
                        </a:rPr>
                        <a:t>GPS</a:t>
                      </a:r>
                    </a:p>
                  </p:txBody>
                </p:sp>
                <p:cxnSp>
                  <p:nvCxnSpPr>
                    <p:cNvPr id="24" name="Connecteur droit avec flèche 23">
                      <a:extLst>
                        <a:ext uri="{FF2B5EF4-FFF2-40B4-BE49-F238E27FC236}">
                          <a16:creationId xmlns:a16="http://schemas.microsoft.com/office/drawing/2014/main" id="{17C27FE4-E6CD-B109-A30F-4E50BEA871E6}"/>
                        </a:ext>
                      </a:extLst>
                    </p:cNvPr>
                    <p:cNvCxnSpPr>
                      <a:cxnSpLocks/>
                      <a:stCxn id="23" idx="3"/>
                    </p:cNvCxnSpPr>
                    <p:nvPr/>
                  </p:nvCxnSpPr>
                  <p:spPr>
                    <a:xfrm flipV="1">
                      <a:off x="3605446" y="2273893"/>
                      <a:ext cx="1394043" cy="9834"/>
                    </a:xfrm>
                    <a:prstGeom prst="straightConnector1">
                      <a:avLst/>
                    </a:prstGeom>
                    <a:ln w="28575"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8" name="Connecteur droit avec flèche 27">
                      <a:extLst>
                        <a:ext uri="{FF2B5EF4-FFF2-40B4-BE49-F238E27FC236}">
                          <a16:creationId xmlns:a16="http://schemas.microsoft.com/office/drawing/2014/main" id="{F09066A2-3312-F87F-96C6-9A931BEF468C}"/>
                        </a:ext>
                      </a:extLst>
                    </p:cNvPr>
                    <p:cNvCxnSpPr>
                      <a:cxnSpLocks/>
                      <a:endCxn id="22" idx="1"/>
                    </p:cNvCxnSpPr>
                    <p:nvPr/>
                  </p:nvCxnSpPr>
                  <p:spPr>
                    <a:xfrm>
                      <a:off x="6378138" y="2457327"/>
                      <a:ext cx="1244647" cy="692203"/>
                    </a:xfrm>
                    <a:prstGeom prst="straightConnector1">
                      <a:avLst/>
                    </a:prstGeom>
                    <a:ln w="28575"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33" name="ZoneTexte 32">
                    <a:extLst>
                      <a:ext uri="{FF2B5EF4-FFF2-40B4-BE49-F238E27FC236}">
                        <a16:creationId xmlns:a16="http://schemas.microsoft.com/office/drawing/2014/main" id="{3E554FAC-A7BC-6681-6FD7-9EBCA9610BC2}"/>
                      </a:ext>
                    </a:extLst>
                  </p:cNvPr>
                  <p:cNvSpPr txBox="1"/>
                  <p:nvPr/>
                </p:nvSpPr>
                <p:spPr>
                  <a:xfrm>
                    <a:off x="2700985" y="2381639"/>
                    <a:ext cx="769978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fr-FR" dirty="0">
                        <a:latin typeface="Tenorite" panose="00000500000000000000" pitchFamily="2" charset="0"/>
                      </a:rPr>
                      <a:t>UART</a:t>
                    </a:r>
                  </a:p>
                </p:txBody>
              </p:sp>
              <p:sp>
                <p:nvSpPr>
                  <p:cNvPr id="38" name="ZoneTexte 37">
                    <a:extLst>
                      <a:ext uri="{FF2B5EF4-FFF2-40B4-BE49-F238E27FC236}">
                        <a16:creationId xmlns:a16="http://schemas.microsoft.com/office/drawing/2014/main" id="{2F727BA6-BA2D-5E24-C8DC-564DAF3464CA}"/>
                      </a:ext>
                    </a:extLst>
                  </p:cNvPr>
                  <p:cNvSpPr txBox="1"/>
                  <p:nvPr/>
                </p:nvSpPr>
                <p:spPr>
                  <a:xfrm>
                    <a:off x="8107002" y="1553832"/>
                    <a:ext cx="94481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fr-FR" dirty="0">
                        <a:latin typeface="Tenorite" panose="00000500000000000000" pitchFamily="2" charset="0"/>
                      </a:rPr>
                      <a:t>MQTT</a:t>
                    </a:r>
                  </a:p>
                </p:txBody>
              </p:sp>
              <p:sp>
                <p:nvSpPr>
                  <p:cNvPr id="39" name="ZoneTexte 38">
                    <a:extLst>
                      <a:ext uri="{FF2B5EF4-FFF2-40B4-BE49-F238E27FC236}">
                        <a16:creationId xmlns:a16="http://schemas.microsoft.com/office/drawing/2014/main" id="{0FFB7880-94B9-A829-A6CD-F335B28C0C09}"/>
                      </a:ext>
                    </a:extLst>
                  </p:cNvPr>
                  <p:cNvSpPr txBox="1"/>
                  <p:nvPr/>
                </p:nvSpPr>
                <p:spPr>
                  <a:xfrm rot="19835771">
                    <a:off x="5545642" y="2013355"/>
                    <a:ext cx="769978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fr-FR" dirty="0">
                        <a:latin typeface="Tenorite" panose="00000500000000000000" pitchFamily="2" charset="0"/>
                      </a:rPr>
                      <a:t>LoRa</a:t>
                    </a:r>
                  </a:p>
                </p:txBody>
              </p:sp>
              <p:sp>
                <p:nvSpPr>
                  <p:cNvPr id="40" name="ZoneTexte 39">
                    <a:extLst>
                      <a:ext uri="{FF2B5EF4-FFF2-40B4-BE49-F238E27FC236}">
                        <a16:creationId xmlns:a16="http://schemas.microsoft.com/office/drawing/2014/main" id="{1022C5CA-BA6A-7B91-A8C6-F1A3A0B6CA88}"/>
                      </a:ext>
                    </a:extLst>
                  </p:cNvPr>
                  <p:cNvSpPr txBox="1"/>
                  <p:nvPr/>
                </p:nvSpPr>
                <p:spPr>
                  <a:xfrm rot="1776879">
                    <a:off x="5460903" y="3173729"/>
                    <a:ext cx="769978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fr-FR" dirty="0">
                        <a:latin typeface="Tenorite" panose="00000500000000000000" pitchFamily="2" charset="0"/>
                      </a:rPr>
                      <a:t>BLE</a:t>
                    </a:r>
                  </a:p>
                </p:txBody>
              </p:sp>
            </p:grpSp>
            <p:sp>
              <p:nvSpPr>
                <p:cNvPr id="42" name="Ellipse 41">
                  <a:extLst>
                    <a:ext uri="{FF2B5EF4-FFF2-40B4-BE49-F238E27FC236}">
                      <a16:creationId xmlns:a16="http://schemas.microsoft.com/office/drawing/2014/main" id="{41143BCD-49EC-179B-6047-DB687DBF45FB}"/>
                    </a:ext>
                  </a:extLst>
                </p:cNvPr>
                <p:cNvSpPr/>
                <p:nvPr/>
              </p:nvSpPr>
              <p:spPr>
                <a:xfrm>
                  <a:off x="735081" y="1559882"/>
                  <a:ext cx="4808848" cy="1718089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43" name="ZoneTexte 42">
                  <a:extLst>
                    <a:ext uri="{FF2B5EF4-FFF2-40B4-BE49-F238E27FC236}">
                      <a16:creationId xmlns:a16="http://schemas.microsoft.com/office/drawing/2014/main" id="{396360AF-7C9A-441C-ECC9-4F9064ACFE94}"/>
                    </a:ext>
                  </a:extLst>
                </p:cNvPr>
                <p:cNvSpPr txBox="1"/>
                <p:nvPr/>
              </p:nvSpPr>
              <p:spPr>
                <a:xfrm>
                  <a:off x="2129285" y="1644390"/>
                  <a:ext cx="228920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b="1" dirty="0">
                      <a:latin typeface="Tenorite" panose="00000500000000000000" pitchFamily="2" charset="0"/>
                    </a:rPr>
                    <a:t>Système Embarquée</a:t>
                  </a:r>
                </a:p>
              </p:txBody>
            </p:sp>
            <p:sp>
              <p:nvSpPr>
                <p:cNvPr id="47" name="ZoneTexte 46">
                  <a:extLst>
                    <a:ext uri="{FF2B5EF4-FFF2-40B4-BE49-F238E27FC236}">
                      <a16:creationId xmlns:a16="http://schemas.microsoft.com/office/drawing/2014/main" id="{6992E651-7282-91C5-1C7D-A34448463D55}"/>
                    </a:ext>
                  </a:extLst>
                </p:cNvPr>
                <p:cNvSpPr txBox="1"/>
                <p:nvPr/>
              </p:nvSpPr>
              <p:spPr>
                <a:xfrm>
                  <a:off x="10769694" y="965033"/>
                  <a:ext cx="208215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fr-FR" b="1" dirty="0">
                      <a:latin typeface="Tenorite" panose="00000500000000000000" pitchFamily="2" charset="0"/>
                    </a:rPr>
                    <a:t>Visualisation</a:t>
                  </a:r>
                </a:p>
              </p:txBody>
            </p:sp>
            <p:sp>
              <p:nvSpPr>
                <p:cNvPr id="48" name="ZoneTexte 47">
                  <a:extLst>
                    <a:ext uri="{FF2B5EF4-FFF2-40B4-BE49-F238E27FC236}">
                      <a16:creationId xmlns:a16="http://schemas.microsoft.com/office/drawing/2014/main" id="{E7C6688D-0F97-DE70-B01F-8DA49D000B96}"/>
                    </a:ext>
                  </a:extLst>
                </p:cNvPr>
                <p:cNvSpPr txBox="1"/>
                <p:nvPr/>
              </p:nvSpPr>
              <p:spPr>
                <a:xfrm>
                  <a:off x="8366759" y="943949"/>
                  <a:ext cx="208215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fr-FR" b="1" dirty="0">
                      <a:latin typeface="Tenorite" panose="00000500000000000000" pitchFamily="2" charset="0"/>
                    </a:rPr>
                    <a:t>Traitement</a:t>
                  </a:r>
                </a:p>
              </p:txBody>
            </p:sp>
          </p:grpSp>
        </p:grpSp>
        <p:sp>
          <p:nvSpPr>
            <p:cNvPr id="2" name="Rectangle : coins arrondis 1">
              <a:extLst>
                <a:ext uri="{FF2B5EF4-FFF2-40B4-BE49-F238E27FC236}">
                  <a16:creationId xmlns:a16="http://schemas.microsoft.com/office/drawing/2014/main" id="{BBCD94BD-1854-2DDC-3CC3-2B763B6B128B}"/>
                </a:ext>
              </a:extLst>
            </p:cNvPr>
            <p:cNvSpPr/>
            <p:nvPr/>
          </p:nvSpPr>
          <p:spPr>
            <a:xfrm>
              <a:off x="7965770" y="1898447"/>
              <a:ext cx="1427280" cy="658761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latin typeface="Tenorite" panose="00000500000000000000" pitchFamily="2" charset="0"/>
                </a:rPr>
                <a:t>Node-</a:t>
              </a:r>
              <a:r>
                <a:rPr lang="fr-FR" dirty="0" err="1">
                  <a:latin typeface="Tenorite" panose="00000500000000000000" pitchFamily="2" charset="0"/>
                </a:rPr>
                <a:t>red</a:t>
              </a:r>
              <a:endParaRPr lang="fr-FR" dirty="0">
                <a:latin typeface="Tenorite" panose="00000500000000000000" pitchFamily="2" charset="0"/>
              </a:endParaRPr>
            </a:p>
          </p:txBody>
        </p:sp>
        <p:cxnSp>
          <p:nvCxnSpPr>
            <p:cNvPr id="14" name="Connecteur droit avec flèche 13">
              <a:extLst>
                <a:ext uri="{FF2B5EF4-FFF2-40B4-BE49-F238E27FC236}">
                  <a16:creationId xmlns:a16="http://schemas.microsoft.com/office/drawing/2014/main" id="{74B4C6A1-AD8B-CD97-E4BE-7E32BE0E462C}"/>
                </a:ext>
              </a:extLst>
            </p:cNvPr>
            <p:cNvCxnSpPr>
              <a:cxnSpLocks/>
              <a:endCxn id="2" idx="1"/>
            </p:cNvCxnSpPr>
            <p:nvPr/>
          </p:nvCxnSpPr>
          <p:spPr>
            <a:xfrm>
              <a:off x="7181967" y="2218015"/>
              <a:ext cx="783803" cy="9813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ZoneTexte 14">
            <a:extLst>
              <a:ext uri="{FF2B5EF4-FFF2-40B4-BE49-F238E27FC236}">
                <a16:creationId xmlns:a16="http://schemas.microsoft.com/office/drawing/2014/main" id="{F5950017-AE71-D05E-9BE8-FCA4927CCCF1}"/>
              </a:ext>
            </a:extLst>
          </p:cNvPr>
          <p:cNvSpPr txBox="1"/>
          <p:nvPr/>
        </p:nvSpPr>
        <p:spPr>
          <a:xfrm>
            <a:off x="9321720" y="1814307"/>
            <a:ext cx="1044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>
                <a:latin typeface="Tenorite" panose="00000500000000000000" pitchFamily="2" charset="0"/>
              </a:rPr>
              <a:t>InfluxDB</a:t>
            </a:r>
            <a:endParaRPr lang="fr-FR" dirty="0">
              <a:latin typeface="Tenorite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26756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95A0A-FE49-DE2A-50C5-47CB367A9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75CFA7F-ED1D-F5D6-F799-FF0BA85561D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cs typeface="Times New Roman" panose="02020603050405020304" pitchFamily="18" charset="0"/>
              </a:rPr>
              <a:t>III. </a:t>
            </a:r>
            <a:r>
              <a:rPr lang="fr-FR" b="1" dirty="0">
                <a:solidFill>
                  <a:schemeClr val="accent1"/>
                </a:solidFill>
                <a:latin typeface="Urbanist"/>
                <a:ea typeface="Urbanist"/>
                <a:cs typeface="Urbanist"/>
                <a:sym typeface="Urbanist"/>
              </a:rPr>
              <a:t>Système Embarquée</a:t>
            </a:r>
            <a:endParaRPr lang="en-US" b="1" dirty="0">
              <a:cs typeface="Times New Roman" panose="02020603050405020304" pitchFamily="18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54A1227-A3A3-0E91-A7A0-BD7D9878786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1" name="Image 20" descr="Une image contenant Appareils électroniques, Ingénierie électronique, Composant électronique, Composant de circuit&#10;&#10;Le contenu généré par l’IA peut être incorrect.">
            <a:extLst>
              <a:ext uri="{FF2B5EF4-FFF2-40B4-BE49-F238E27FC236}">
                <a16:creationId xmlns:a16="http://schemas.microsoft.com/office/drawing/2014/main" id="{EDB74670-B2C7-3C24-25F1-A2AD9CA932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59" y="1711526"/>
            <a:ext cx="2467629" cy="2449122"/>
          </a:xfrm>
          <a:prstGeom prst="rect">
            <a:avLst/>
          </a:prstGeom>
        </p:spPr>
      </p:pic>
      <p:sp>
        <p:nvSpPr>
          <p:cNvPr id="22" name="Title 4">
            <a:extLst>
              <a:ext uri="{FF2B5EF4-FFF2-40B4-BE49-F238E27FC236}">
                <a16:creationId xmlns:a16="http://schemas.microsoft.com/office/drawing/2014/main" id="{22F33773-58E7-B8F4-FE19-98437D7C0CFE}"/>
              </a:ext>
            </a:extLst>
          </p:cNvPr>
          <p:cNvSpPr txBox="1">
            <a:spLocks/>
          </p:cNvSpPr>
          <p:nvPr/>
        </p:nvSpPr>
        <p:spPr>
          <a:xfrm>
            <a:off x="695325" y="1065313"/>
            <a:ext cx="1159796" cy="488951"/>
          </a:xfrm>
          <a:prstGeom prst="rect">
            <a:avLst/>
          </a:prstGeom>
        </p:spPr>
        <p:txBody>
          <a:bodyPr anchor="ctr" anchorCtr="0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kern="1200">
                <a:solidFill>
                  <a:schemeClr val="tx1"/>
                </a:solidFill>
                <a:latin typeface="Tenorite" panose="00000500000000000000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fr-FR" sz="2000" b="1" dirty="0">
                <a:cs typeface="Times New Roman" panose="02020603050405020304" pitchFamily="18" charset="0"/>
              </a:rPr>
              <a:t>1. GPS</a:t>
            </a:r>
            <a:endParaRPr lang="en-US" sz="2000" b="1" dirty="0">
              <a:cs typeface="Times New Roman" panose="02020603050405020304" pitchFamily="18" charset="0"/>
            </a:endParaRPr>
          </a:p>
        </p:txBody>
      </p:sp>
      <p:sp>
        <p:nvSpPr>
          <p:cNvPr id="23" name="Title 4">
            <a:extLst>
              <a:ext uri="{FF2B5EF4-FFF2-40B4-BE49-F238E27FC236}">
                <a16:creationId xmlns:a16="http://schemas.microsoft.com/office/drawing/2014/main" id="{01563EC5-D974-C1DB-DC4B-72659705F64B}"/>
              </a:ext>
            </a:extLst>
          </p:cNvPr>
          <p:cNvSpPr txBox="1">
            <a:spLocks/>
          </p:cNvSpPr>
          <p:nvPr/>
        </p:nvSpPr>
        <p:spPr>
          <a:xfrm>
            <a:off x="3615257" y="1059664"/>
            <a:ext cx="1159796" cy="488951"/>
          </a:xfrm>
          <a:prstGeom prst="rect">
            <a:avLst/>
          </a:prstGeom>
        </p:spPr>
        <p:txBody>
          <a:bodyPr anchor="ctr" anchorCtr="0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kern="1200">
                <a:solidFill>
                  <a:schemeClr val="tx1"/>
                </a:solidFill>
                <a:latin typeface="Tenorite" panose="00000500000000000000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fr-FR" sz="2000" b="1" dirty="0">
                <a:cs typeface="Times New Roman" panose="02020603050405020304" pitchFamily="18" charset="0"/>
              </a:rPr>
              <a:t>2. Relay</a:t>
            </a:r>
            <a:endParaRPr lang="en-US" sz="2000" b="1" dirty="0">
              <a:cs typeface="Times New Roman" panose="02020603050405020304" pitchFamily="18" charset="0"/>
            </a:endParaRPr>
          </a:p>
        </p:txBody>
      </p:sp>
      <p:grpSp>
        <p:nvGrpSpPr>
          <p:cNvPr id="30" name="Groupe 29">
            <a:extLst>
              <a:ext uri="{FF2B5EF4-FFF2-40B4-BE49-F238E27FC236}">
                <a16:creationId xmlns:a16="http://schemas.microsoft.com/office/drawing/2014/main" id="{5BA43F09-8CC2-FADC-5E81-641991B6C8F5}"/>
              </a:ext>
            </a:extLst>
          </p:cNvPr>
          <p:cNvGrpSpPr/>
          <p:nvPr/>
        </p:nvGrpSpPr>
        <p:grpSpPr>
          <a:xfrm>
            <a:off x="2527915" y="1711526"/>
            <a:ext cx="3568085" cy="3568085"/>
            <a:chOff x="2783554" y="1711526"/>
            <a:chExt cx="3568085" cy="3568085"/>
          </a:xfrm>
        </p:grpSpPr>
        <p:pic>
          <p:nvPicPr>
            <p:cNvPr id="25" name="Image 24" descr="Une image contenant texte, Appareils électroniques, capture d’écran, Ingénierie électronique&#10;&#10;Le contenu généré par l’IA peut être incorrect.">
              <a:extLst>
                <a:ext uri="{FF2B5EF4-FFF2-40B4-BE49-F238E27FC236}">
                  <a16:creationId xmlns:a16="http://schemas.microsoft.com/office/drawing/2014/main" id="{452CE52A-8B53-9D42-B8AB-0AEA1C49E08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83554" y="1711526"/>
              <a:ext cx="3568085" cy="3568085"/>
            </a:xfrm>
            <a:prstGeom prst="rect">
              <a:avLst/>
            </a:prstGeom>
          </p:spPr>
        </p:pic>
        <p:pic>
          <p:nvPicPr>
            <p:cNvPr id="27" name="Image 26" descr="Une image contenant texte, Composant électronique, Ingénierie électronique, Composant de circuit&#10;&#10;Le contenu généré par l’IA peut être incorrect.">
              <a:extLst>
                <a:ext uri="{FF2B5EF4-FFF2-40B4-BE49-F238E27FC236}">
                  <a16:creationId xmlns:a16="http://schemas.microsoft.com/office/drawing/2014/main" id="{5E764005-85F4-BBFF-25FE-7291C351E12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03212" y="3070674"/>
              <a:ext cx="1243588" cy="849788"/>
            </a:xfrm>
            <a:prstGeom prst="rect">
              <a:avLst/>
            </a:prstGeom>
          </p:spPr>
        </p:pic>
        <p:pic>
          <p:nvPicPr>
            <p:cNvPr id="2050" name="Picture 2" descr="RAK11720 WisDuo LPWAN+BLE Module">
              <a:extLst>
                <a:ext uri="{FF2B5EF4-FFF2-40B4-BE49-F238E27FC236}">
                  <a16:creationId xmlns:a16="http://schemas.microsoft.com/office/drawing/2014/main" id="{2308DC65-7282-41DF-7D19-2A42144D0E8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64834" y="2774065"/>
              <a:ext cx="1443006" cy="144300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8" name="Title 4">
              <a:extLst>
                <a:ext uri="{FF2B5EF4-FFF2-40B4-BE49-F238E27FC236}">
                  <a16:creationId xmlns:a16="http://schemas.microsoft.com/office/drawing/2014/main" id="{DA30D5AD-0263-35C6-9565-A34F94E79660}"/>
                </a:ext>
              </a:extLst>
            </p:cNvPr>
            <p:cNvSpPr txBox="1">
              <a:spLocks/>
            </p:cNvSpPr>
            <p:nvPr/>
          </p:nvSpPr>
          <p:spPr>
            <a:xfrm>
              <a:off x="2900364" y="2670630"/>
              <a:ext cx="1229646" cy="206869"/>
            </a:xfrm>
            <a:prstGeom prst="rect">
              <a:avLst/>
            </a:prstGeom>
            <a:solidFill>
              <a:schemeClr val="tx1"/>
            </a:solidFill>
          </p:spPr>
          <p:txBody>
            <a:bodyPr anchor="ctr" anchorCtr="0">
              <a:normAutofit fontScale="45000" lnSpcReduction="20000"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200" b="0" kern="1200">
                  <a:solidFill>
                    <a:schemeClr val="tx1"/>
                  </a:solidFill>
                  <a:latin typeface="Tenorite" panose="00000500000000000000" pitchFamily="2" charset="0"/>
                  <a:ea typeface="+mj-ea"/>
                  <a:cs typeface="Arial" panose="020B0604020202020204" pitchFamily="34" charset="0"/>
                </a:defRPr>
              </a:lvl1pPr>
            </a:lstStyle>
            <a:p>
              <a:r>
                <a:rPr lang="fr-FR" sz="2000" b="1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MCU : </a:t>
              </a:r>
              <a:r>
                <a:rPr lang="fr-FR" sz="1500" b="1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RAK11720</a:t>
              </a:r>
              <a:endParaRPr lang="en-US" sz="2000" b="1" dirty="0">
                <a:solidFill>
                  <a:schemeClr val="bg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29" name="Title 4">
              <a:extLst>
                <a:ext uri="{FF2B5EF4-FFF2-40B4-BE49-F238E27FC236}">
                  <a16:creationId xmlns:a16="http://schemas.microsoft.com/office/drawing/2014/main" id="{E4C4EF84-C615-56E5-DD81-361B05C017AB}"/>
                </a:ext>
              </a:extLst>
            </p:cNvPr>
            <p:cNvSpPr txBox="1">
              <a:spLocks/>
            </p:cNvSpPr>
            <p:nvPr/>
          </p:nvSpPr>
          <p:spPr>
            <a:xfrm>
              <a:off x="4825714" y="2670630"/>
              <a:ext cx="1321086" cy="206869"/>
            </a:xfrm>
            <a:prstGeom prst="rect">
              <a:avLst/>
            </a:prstGeom>
            <a:solidFill>
              <a:schemeClr val="tx1"/>
            </a:solidFill>
          </p:spPr>
          <p:txBody>
            <a:bodyPr anchor="ctr" anchorCtr="0">
              <a:normAutofit fontScale="45000" lnSpcReduction="20000"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200" b="0" kern="1200">
                  <a:solidFill>
                    <a:schemeClr val="tx1"/>
                  </a:solidFill>
                  <a:latin typeface="Tenorite" panose="00000500000000000000" pitchFamily="2" charset="0"/>
                  <a:ea typeface="+mj-ea"/>
                  <a:cs typeface="Arial" panose="020B0604020202020204" pitchFamily="34" charset="0"/>
                </a:defRPr>
              </a:lvl1pPr>
            </a:lstStyle>
            <a:p>
              <a:r>
                <a:rPr lang="fr-FR" sz="2000" b="1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Satellite Transceiver</a:t>
              </a:r>
              <a:endParaRPr lang="en-US" sz="2000" b="1" dirty="0">
                <a:solidFill>
                  <a:schemeClr val="bg1"/>
                </a:solidFill>
                <a:cs typeface="Times New Roman" panose="02020603050405020304" pitchFamily="18" charset="0"/>
              </a:endParaRPr>
            </a:p>
          </p:txBody>
        </p:sp>
      </p:grpSp>
      <p:pic>
        <p:nvPicPr>
          <p:cNvPr id="3" name="Image 2" descr="Une image contenant Ingénierie électronique, câble, fils électriques, Composant électronique&#10;&#10;Le contenu généré par l’IA peut être incorrect.">
            <a:extLst>
              <a:ext uri="{FF2B5EF4-FFF2-40B4-BE49-F238E27FC236}">
                <a16:creationId xmlns:a16="http://schemas.microsoft.com/office/drawing/2014/main" id="{4E96CF89-A2D1-6F60-DE67-77692B05B99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7109281" y="996772"/>
            <a:ext cx="3752099" cy="4997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553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587EAA-322C-962F-5B1F-25C3DD9C4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7265FAC-3AA3-0F7E-EB65-32A253FA13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cs typeface="Times New Roman" panose="02020603050405020304" pitchFamily="18" charset="0"/>
              </a:rPr>
              <a:t>III. </a:t>
            </a:r>
            <a:r>
              <a:rPr lang="fr-FR" b="1" dirty="0">
                <a:solidFill>
                  <a:schemeClr val="accent1"/>
                </a:solidFill>
                <a:latin typeface="Urbanist"/>
                <a:ea typeface="Urbanist"/>
                <a:cs typeface="Urbanist"/>
                <a:sym typeface="Urbanist"/>
              </a:rPr>
              <a:t>Système Embarquée</a:t>
            </a:r>
            <a:endParaRPr lang="en-US" b="1" dirty="0">
              <a:cs typeface="Times New Roman" panose="02020603050405020304" pitchFamily="18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BC4D5AB-E1A9-69DD-B912-D4319B93038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2" name="Title 4">
            <a:extLst>
              <a:ext uri="{FF2B5EF4-FFF2-40B4-BE49-F238E27FC236}">
                <a16:creationId xmlns:a16="http://schemas.microsoft.com/office/drawing/2014/main" id="{301E5EF1-754C-7FCB-7238-9F5716F31603}"/>
              </a:ext>
            </a:extLst>
          </p:cNvPr>
          <p:cNvSpPr txBox="1">
            <a:spLocks/>
          </p:cNvSpPr>
          <p:nvPr/>
        </p:nvSpPr>
        <p:spPr>
          <a:xfrm>
            <a:off x="695323" y="1065313"/>
            <a:ext cx="3568085" cy="488951"/>
          </a:xfrm>
          <a:prstGeom prst="rect">
            <a:avLst/>
          </a:prstGeom>
        </p:spPr>
        <p:txBody>
          <a:bodyPr anchor="ctr" anchorCtr="0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kern="1200">
                <a:solidFill>
                  <a:schemeClr val="tx1"/>
                </a:solidFill>
                <a:latin typeface="Tenorite" panose="00000500000000000000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fr-FR" sz="2000" b="1" dirty="0">
                <a:cs typeface="Times New Roman" panose="02020603050405020304" pitchFamily="18" charset="0"/>
              </a:rPr>
              <a:t>3. Implémentation Logiciel</a:t>
            </a:r>
            <a:endParaRPr lang="en-US" sz="2000" b="1" dirty="0">
              <a:cs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FEDB9570-95DD-AF6B-6D15-5AD8623545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3120" y="1919275"/>
            <a:ext cx="1655261" cy="21185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altLang="fr-FR" sz="1800" b="1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Zephyr</a:t>
            </a: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RTOS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Threads :</a:t>
            </a: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kumimoji="0" lang="fr-FR" altLang="fr-FR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GPS</a:t>
            </a: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kumimoji="0" lang="fr-FR" altLang="fr-FR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BLE</a:t>
            </a: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kumimoji="0" lang="fr-FR" altLang="fr-FR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LoRa</a:t>
            </a:r>
          </a:p>
        </p:txBody>
      </p:sp>
      <p:pic>
        <p:nvPicPr>
          <p:cNvPr id="8" name="Image 7" descr="Une image contenant texte, capture d’écran, Police, menu&#10;&#10;Le contenu généré par l’IA peut être incorrect.">
            <a:extLst>
              <a:ext uri="{FF2B5EF4-FFF2-40B4-BE49-F238E27FC236}">
                <a16:creationId xmlns:a16="http://schemas.microsoft.com/office/drawing/2014/main" id="{E14C1BFB-52B4-AD87-0686-1B016666CC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5011" y="11678"/>
            <a:ext cx="3986989" cy="6297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841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F8D5F-18C6-7B8D-63E7-AF87454A1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4ADFF3B-778E-C8F9-B0DA-B683B0AD57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5325" y="419100"/>
            <a:ext cx="5400675" cy="488951"/>
          </a:xfrm>
        </p:spPr>
        <p:txBody>
          <a:bodyPr>
            <a:normAutofit fontScale="90000"/>
          </a:bodyPr>
          <a:lstStyle/>
          <a:p>
            <a:r>
              <a:rPr lang="en-US" b="1" dirty="0">
                <a:cs typeface="Times New Roman" panose="02020603050405020304" pitchFamily="18" charset="0"/>
              </a:rPr>
              <a:t>IV</a:t>
            </a:r>
            <a:r>
              <a:rPr lang="en-US" b="1" dirty="0">
                <a:solidFill>
                  <a:schemeClr val="accent1"/>
                </a:solidFill>
                <a:latin typeface="Urbanist"/>
              </a:rPr>
              <a:t>. </a:t>
            </a:r>
            <a:r>
              <a:rPr lang="fr-FR" b="1" dirty="0">
                <a:solidFill>
                  <a:schemeClr val="accent1"/>
                </a:solidFill>
                <a:latin typeface="Urbanist"/>
              </a:rPr>
              <a:t>Transmission LoRa &amp; BLE</a:t>
            </a:r>
            <a:endParaRPr lang="en-US" b="1" dirty="0">
              <a:cs typeface="Times New Roman" panose="02020603050405020304" pitchFamily="18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FDA1767-8326-519F-5617-CB59AACE71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Image 9" descr="Une image contenant texte, capture d’écran, logiciel&#10;&#10;Le contenu généré par l’IA peut être incorrect.">
            <a:extLst>
              <a:ext uri="{FF2B5EF4-FFF2-40B4-BE49-F238E27FC236}">
                <a16:creationId xmlns:a16="http://schemas.microsoft.com/office/drawing/2014/main" id="{6EC4B0E2-F494-4A78-046D-83D93E4793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5900" y="0"/>
            <a:ext cx="3086100" cy="6858000"/>
          </a:xfrm>
          <a:prstGeom prst="rect">
            <a:avLst/>
          </a:prstGeom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B0DA6634-FD67-DDC6-E811-11337F87C8B0}"/>
              </a:ext>
            </a:extLst>
          </p:cNvPr>
          <p:cNvSpPr txBox="1"/>
          <p:nvPr/>
        </p:nvSpPr>
        <p:spPr>
          <a:xfrm>
            <a:off x="695325" y="1142835"/>
            <a:ext cx="3836035" cy="3788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fr-FR" b="1" dirty="0">
                <a:solidFill>
                  <a:schemeClr val="tx2"/>
                </a:solidFill>
              </a:rPr>
              <a:t>LoRa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dirty="0">
                <a:solidFill>
                  <a:schemeClr val="tx2"/>
                </a:solidFill>
              </a:rPr>
              <a:t>Transmission </a:t>
            </a:r>
            <a:r>
              <a:rPr lang="fr-FR" b="1" dirty="0">
                <a:solidFill>
                  <a:schemeClr val="tx2"/>
                </a:solidFill>
              </a:rPr>
              <a:t>longue portée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dirty="0">
                <a:solidFill>
                  <a:schemeClr val="tx2"/>
                </a:solidFill>
              </a:rPr>
              <a:t>Transmission de la </a:t>
            </a:r>
            <a:r>
              <a:rPr lang="fr-FR" b="1" dirty="0">
                <a:solidFill>
                  <a:schemeClr val="tx2"/>
                </a:solidFill>
              </a:rPr>
              <a:t>position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dirty="0">
                <a:solidFill>
                  <a:schemeClr val="tx2"/>
                </a:solidFill>
              </a:rPr>
              <a:t>Permet </a:t>
            </a:r>
            <a:r>
              <a:rPr lang="fr-FR" b="1" dirty="0">
                <a:solidFill>
                  <a:schemeClr val="tx2"/>
                </a:solidFill>
              </a:rPr>
              <a:t>de retracer les trajets</a:t>
            </a:r>
          </a:p>
          <a:p>
            <a:pPr>
              <a:lnSpc>
                <a:spcPct val="150000"/>
              </a:lnSpc>
              <a:buNone/>
            </a:pPr>
            <a:endParaRPr lang="fr-FR" b="1" dirty="0">
              <a:solidFill>
                <a:schemeClr val="tx2"/>
              </a:solidFill>
            </a:endParaRPr>
          </a:p>
          <a:p>
            <a:pPr>
              <a:lnSpc>
                <a:spcPct val="150000"/>
              </a:lnSpc>
              <a:buNone/>
            </a:pPr>
            <a:r>
              <a:rPr lang="fr-FR" b="1" dirty="0" err="1">
                <a:solidFill>
                  <a:schemeClr val="tx2"/>
                </a:solidFill>
              </a:rPr>
              <a:t>Payload</a:t>
            </a:r>
            <a:r>
              <a:rPr lang="fr-FR" b="1" dirty="0">
                <a:solidFill>
                  <a:schemeClr val="tx2"/>
                </a:solidFill>
              </a:rPr>
              <a:t> envoyé :</a:t>
            </a:r>
          </a:p>
          <a:p>
            <a:pPr>
              <a:lnSpc>
                <a:spcPct val="150000"/>
              </a:lnSpc>
            </a:pPr>
            <a:r>
              <a:rPr lang="fr-FR" dirty="0">
                <a:solidFill>
                  <a:schemeClr val="tx2"/>
                </a:solidFill>
              </a:rPr>
              <a:t>8 octets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dirty="0">
                <a:solidFill>
                  <a:schemeClr val="tx2"/>
                </a:solidFill>
              </a:rPr>
              <a:t>4 bytes latitude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dirty="0">
                <a:solidFill>
                  <a:schemeClr val="tx2"/>
                </a:solidFill>
              </a:rPr>
              <a:t>4 bytes longitude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17D134B0-8EA3-0940-2A2E-50DA4B2FAA5B}"/>
              </a:ext>
            </a:extLst>
          </p:cNvPr>
          <p:cNvSpPr txBox="1"/>
          <p:nvPr/>
        </p:nvSpPr>
        <p:spPr>
          <a:xfrm>
            <a:off x="4810125" y="1142835"/>
            <a:ext cx="3836035" cy="1711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fr-FR" b="1" dirty="0">
                <a:solidFill>
                  <a:schemeClr val="tx2"/>
                </a:solidFill>
              </a:rPr>
              <a:t>BLE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dirty="0">
                <a:solidFill>
                  <a:schemeClr val="tx2"/>
                </a:solidFill>
              </a:rPr>
              <a:t>Transmission </a:t>
            </a:r>
            <a:r>
              <a:rPr lang="fr-FR" b="1" dirty="0">
                <a:solidFill>
                  <a:schemeClr val="tx2"/>
                </a:solidFill>
              </a:rPr>
              <a:t>courte portée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dirty="0">
                <a:solidFill>
                  <a:schemeClr val="tx2"/>
                </a:solidFill>
              </a:rPr>
              <a:t>Transmission de la </a:t>
            </a:r>
            <a:r>
              <a:rPr lang="fr-FR" b="1" dirty="0">
                <a:solidFill>
                  <a:schemeClr val="tx2"/>
                </a:solidFill>
              </a:rPr>
              <a:t>distance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dirty="0">
                <a:solidFill>
                  <a:schemeClr val="tx2"/>
                </a:solidFill>
              </a:rPr>
              <a:t>Emission des </a:t>
            </a:r>
            <a:r>
              <a:rPr lang="fr-FR" b="1" dirty="0">
                <a:solidFill>
                  <a:schemeClr val="tx2"/>
                </a:solidFill>
              </a:rPr>
              <a:t>alertes</a:t>
            </a:r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EDB1D70B-CE43-FD30-A1B1-40E905B32F77}"/>
              </a:ext>
            </a:extLst>
          </p:cNvPr>
          <p:cNvSpPr/>
          <p:nvPr/>
        </p:nvSpPr>
        <p:spPr>
          <a:xfrm>
            <a:off x="9231381" y="4253341"/>
            <a:ext cx="1387089" cy="308499"/>
          </a:xfrm>
          <a:prstGeom prst="ellipse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160524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927B19-B4F6-C680-D770-E445343C6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341F546-4008-D530-733A-3698A3E72F0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cs typeface="Times New Roman" panose="02020603050405020304" pitchFamily="18" charset="0"/>
              </a:rPr>
              <a:t>V</a:t>
            </a:r>
            <a:r>
              <a:rPr lang="en-US" b="1" dirty="0">
                <a:solidFill>
                  <a:schemeClr val="accent1"/>
                </a:solidFill>
                <a:latin typeface="Urbanist"/>
              </a:rPr>
              <a:t>. </a:t>
            </a:r>
            <a:r>
              <a:rPr lang="fr-FR" b="1" dirty="0">
                <a:solidFill>
                  <a:schemeClr val="accent1"/>
                </a:solidFill>
                <a:latin typeface="Urbanist"/>
              </a:rPr>
              <a:t>Traitement Node-Red</a:t>
            </a:r>
            <a:endParaRPr lang="en-US" b="1" dirty="0">
              <a:cs typeface="Times New Roman" panose="02020603050405020304" pitchFamily="18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088618F-7D74-D6EF-D671-C8FDD7E0EEC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Image 3" descr="Une image contenant texte, ligne, Tracé&#10;&#10;Le contenu généré par l’IA peut être incorrect.">
            <a:extLst>
              <a:ext uri="{FF2B5EF4-FFF2-40B4-BE49-F238E27FC236}">
                <a16:creationId xmlns:a16="http://schemas.microsoft.com/office/drawing/2014/main" id="{6BEE6BBA-F8B9-0C78-D805-81A13C6C22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982" y="3253197"/>
            <a:ext cx="9932035" cy="3055528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C08BC864-5DEC-007B-1A36-D6B73DCE5E41}"/>
              </a:ext>
            </a:extLst>
          </p:cNvPr>
          <p:cNvSpPr txBox="1"/>
          <p:nvPr/>
        </p:nvSpPr>
        <p:spPr>
          <a:xfrm>
            <a:off x="984913" y="1110946"/>
            <a:ext cx="3851247" cy="1711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fr-FR" b="1" dirty="0">
                <a:solidFill>
                  <a:schemeClr val="tx2"/>
                </a:solidFill>
              </a:rPr>
              <a:t>MQTT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dirty="0">
                <a:solidFill>
                  <a:schemeClr val="tx2"/>
                </a:solidFill>
              </a:rPr>
              <a:t>Protocole léger </a:t>
            </a:r>
            <a:r>
              <a:rPr lang="fr-FR" dirty="0" err="1">
                <a:solidFill>
                  <a:schemeClr val="tx2"/>
                </a:solidFill>
              </a:rPr>
              <a:t>publish</a:t>
            </a:r>
            <a:endParaRPr lang="fr-FR" dirty="0">
              <a:solidFill>
                <a:schemeClr val="tx2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dirty="0">
                <a:solidFill>
                  <a:schemeClr val="tx2"/>
                </a:solidFill>
              </a:rPr>
              <a:t>Adapté IoT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dirty="0">
                <a:solidFill>
                  <a:schemeClr val="tx2"/>
                </a:solidFill>
              </a:rPr>
              <a:t>Gestion du flux en temps réel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5D15114E-AD99-A6CC-8F59-DE04AE580F4C}"/>
              </a:ext>
            </a:extLst>
          </p:cNvPr>
          <p:cNvSpPr txBox="1"/>
          <p:nvPr/>
        </p:nvSpPr>
        <p:spPr>
          <a:xfrm>
            <a:off x="5654647" y="1110946"/>
            <a:ext cx="5714393" cy="1711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fr-FR" b="1" dirty="0">
                <a:solidFill>
                  <a:schemeClr val="tx2"/>
                </a:solidFill>
              </a:rPr>
              <a:t>Node-RED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dirty="0">
                <a:solidFill>
                  <a:schemeClr val="tx2"/>
                </a:solidFill>
              </a:rPr>
              <a:t>Décodage du </a:t>
            </a:r>
            <a:r>
              <a:rPr lang="fr-FR" dirty="0" err="1">
                <a:solidFill>
                  <a:schemeClr val="tx2"/>
                </a:solidFill>
              </a:rPr>
              <a:t>payload</a:t>
            </a:r>
            <a:r>
              <a:rPr lang="fr-FR" dirty="0">
                <a:solidFill>
                  <a:schemeClr val="tx2"/>
                </a:solidFill>
              </a:rPr>
              <a:t> (latitude, longitude)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dirty="0">
                <a:solidFill>
                  <a:schemeClr val="tx2"/>
                </a:solidFill>
              </a:rPr>
              <a:t>Formatage des données en structure exploitable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dirty="0">
                <a:solidFill>
                  <a:schemeClr val="tx2"/>
                </a:solidFill>
              </a:rPr>
              <a:t>Redirection vers la base de données </a:t>
            </a:r>
            <a:r>
              <a:rPr lang="fr-FR" dirty="0" err="1">
                <a:solidFill>
                  <a:schemeClr val="tx2"/>
                </a:solidFill>
              </a:rPr>
              <a:t>InfluxDB</a:t>
            </a:r>
            <a:endParaRPr lang="fr-FR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43708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CDF0C-22FA-47C9-01EA-5E20C902D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FFB4564-526E-18C2-4E23-D676C7C863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cs typeface="Times New Roman" panose="02020603050405020304" pitchFamily="18" charset="0"/>
              </a:rPr>
              <a:t>VI</a:t>
            </a:r>
            <a:r>
              <a:rPr lang="en-US" b="1" dirty="0">
                <a:solidFill>
                  <a:schemeClr val="accent1"/>
                </a:solidFill>
                <a:latin typeface="Urbanist"/>
              </a:rPr>
              <a:t>. </a:t>
            </a:r>
            <a:r>
              <a:rPr lang="fr-FR" b="1" dirty="0">
                <a:solidFill>
                  <a:schemeClr val="accent1"/>
                </a:solidFill>
                <a:latin typeface="Urbanist"/>
              </a:rPr>
              <a:t>Visualisation </a:t>
            </a:r>
            <a:r>
              <a:rPr lang="fr-FR" b="1" dirty="0" err="1">
                <a:solidFill>
                  <a:schemeClr val="accent1"/>
                </a:solidFill>
                <a:latin typeface="Urbanist"/>
              </a:rPr>
              <a:t>Grafana</a:t>
            </a:r>
            <a:endParaRPr lang="en-US" b="1" dirty="0">
              <a:cs typeface="Times New Roman" panose="02020603050405020304" pitchFamily="18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E2C3AE0-E8FE-EB07-57CE-702DFCD2B2C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Image 3" descr="Une image contenant carte, texte, atlas, Plan&#10;&#10;Le contenu généré par l’IA peut être incorrect.">
            <a:extLst>
              <a:ext uri="{FF2B5EF4-FFF2-40B4-BE49-F238E27FC236}">
                <a16:creationId xmlns:a16="http://schemas.microsoft.com/office/drawing/2014/main" id="{66BF4031-93F5-5D89-01CA-C640AA9772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7410" y="1407184"/>
            <a:ext cx="8784590" cy="3875381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B7DFAA31-47B0-A3AD-9443-3ED5951AEF97}"/>
              </a:ext>
            </a:extLst>
          </p:cNvPr>
          <p:cNvSpPr txBox="1"/>
          <p:nvPr/>
        </p:nvSpPr>
        <p:spPr>
          <a:xfrm>
            <a:off x="111153" y="2579151"/>
            <a:ext cx="3296257" cy="15314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sz="1600" b="0" i="0" dirty="0">
                <a:solidFill>
                  <a:schemeClr val="tx2"/>
                </a:solidFill>
                <a:effectLst/>
              </a:rPr>
              <a:t>Connexion directe à </a:t>
            </a:r>
            <a:r>
              <a:rPr lang="fr-FR" sz="1600" b="1" i="0" dirty="0" err="1">
                <a:solidFill>
                  <a:schemeClr val="tx2"/>
                </a:solidFill>
                <a:effectLst/>
              </a:rPr>
              <a:t>InfluxDB</a:t>
            </a:r>
            <a:endParaRPr lang="fr-FR" sz="1600" b="1" dirty="0">
              <a:solidFill>
                <a:schemeClr val="tx2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sz="1600" b="0" i="0" dirty="0">
                <a:solidFill>
                  <a:schemeClr val="tx2"/>
                </a:solidFill>
                <a:effectLst/>
              </a:rPr>
              <a:t>Affichage des coordonnées </a:t>
            </a:r>
            <a:r>
              <a:rPr lang="fr-FR" sz="1600" b="1" i="0" dirty="0">
                <a:solidFill>
                  <a:schemeClr val="tx2"/>
                </a:solidFill>
                <a:effectLst/>
              </a:rPr>
              <a:t>GPS</a:t>
            </a:r>
            <a:endParaRPr lang="fr-FR" sz="1600" b="1" dirty="0">
              <a:solidFill>
                <a:schemeClr val="tx2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sz="1600" b="0" i="0" dirty="0">
                <a:solidFill>
                  <a:schemeClr val="tx2"/>
                </a:solidFill>
                <a:effectLst/>
              </a:rPr>
              <a:t>Visualisation </a:t>
            </a:r>
            <a:r>
              <a:rPr lang="fr-FR" sz="1600" b="1" i="0" dirty="0">
                <a:solidFill>
                  <a:schemeClr val="tx2"/>
                </a:solidFill>
                <a:effectLst/>
              </a:rPr>
              <a:t>du trajet sur carte</a:t>
            </a:r>
            <a:endParaRPr lang="fr-FR" sz="1600" b="1" dirty="0">
              <a:solidFill>
                <a:schemeClr val="tx2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sz="1600" b="0" i="0" dirty="0">
                <a:solidFill>
                  <a:schemeClr val="tx2"/>
                </a:solidFill>
                <a:effectLst/>
              </a:rPr>
              <a:t>Suivi en </a:t>
            </a:r>
            <a:r>
              <a:rPr lang="fr-FR" sz="1600" b="1" i="0" dirty="0">
                <a:solidFill>
                  <a:schemeClr val="tx2"/>
                </a:solidFill>
                <a:effectLst/>
              </a:rPr>
              <a:t>temps réel </a:t>
            </a:r>
            <a:r>
              <a:rPr lang="fr-FR" sz="1600" b="0" i="0" dirty="0">
                <a:solidFill>
                  <a:schemeClr val="tx2"/>
                </a:solidFill>
                <a:effectLst/>
              </a:rPr>
              <a:t>de la position</a:t>
            </a:r>
            <a:endParaRPr lang="fr-FR" sz="16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40779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2F6F9D-E3F6-7C04-EEDA-FE13695B6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EA14CBA-93B4-7439-1688-19D489D9BBA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cs typeface="Times New Roman" panose="02020603050405020304" pitchFamily="18" charset="0"/>
              </a:rPr>
              <a:t>VII. </a:t>
            </a:r>
            <a:r>
              <a:rPr lang="fr-FR" b="1" dirty="0">
                <a:solidFill>
                  <a:schemeClr val="accent1"/>
                </a:solidFill>
                <a:latin typeface="Urbanist"/>
                <a:ea typeface="Urbanist"/>
                <a:cs typeface="Urbanist"/>
                <a:sym typeface="Urbanist"/>
              </a:rPr>
              <a:t>Gestion énergétique</a:t>
            </a:r>
            <a:endParaRPr lang="en-US" b="1" dirty="0">
              <a:cs typeface="Times New Roman" panose="02020603050405020304" pitchFamily="18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BED484B-2518-3504-C1E7-A1332A5AE4F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Image 2" descr="Une image contenant capture d’écran, ligne, Tracé&#10;&#10;Le contenu généré par l’IA peut être incorrect.">
            <a:extLst>
              <a:ext uri="{FF2B5EF4-FFF2-40B4-BE49-F238E27FC236}">
                <a16:creationId xmlns:a16="http://schemas.microsoft.com/office/drawing/2014/main" id="{0938FB5E-59C4-A699-90DC-E40CAFCD34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3600" y="1578205"/>
            <a:ext cx="7294880" cy="3459369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89F85630-B0A2-1899-4A18-DCE360B2931F}"/>
              </a:ext>
            </a:extLst>
          </p:cNvPr>
          <p:cNvSpPr txBox="1"/>
          <p:nvPr/>
        </p:nvSpPr>
        <p:spPr>
          <a:xfrm>
            <a:off x="121920" y="2600950"/>
            <a:ext cx="5034280" cy="1199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 b="1" dirty="0">
                <a:solidFill>
                  <a:schemeClr val="tx2"/>
                </a:solidFill>
                <a:latin typeface="Tenorite" panose="00000500000000000000" pitchFamily="2" charset="0"/>
              </a:rPr>
              <a:t>532 mA </a:t>
            </a:r>
            <a:r>
              <a:rPr lang="en-US" sz="1600" dirty="0">
                <a:solidFill>
                  <a:schemeClr val="tx2"/>
                </a:solidFill>
                <a:latin typeface="Tenorite" panose="00000500000000000000" pitchFamily="2" charset="0"/>
              </a:rPr>
              <a:t>during </a:t>
            </a:r>
            <a:r>
              <a:rPr lang="en-US" sz="1600" b="1" dirty="0">
                <a:solidFill>
                  <a:schemeClr val="tx2"/>
                </a:solidFill>
                <a:latin typeface="Tenorite" panose="00000500000000000000" pitchFamily="2" charset="0"/>
              </a:rPr>
              <a:t>join</a:t>
            </a:r>
            <a:r>
              <a:rPr lang="en-US" sz="1600" dirty="0">
                <a:solidFill>
                  <a:schemeClr val="tx2"/>
                </a:solidFill>
                <a:latin typeface="Tenorite" panose="00000500000000000000" pitchFamily="2" charset="0"/>
              </a:rPr>
              <a:t> mode for </a:t>
            </a:r>
            <a:r>
              <a:rPr lang="en-US" sz="1600" b="1" dirty="0">
                <a:solidFill>
                  <a:schemeClr val="tx2"/>
                </a:solidFill>
                <a:latin typeface="Tenorite" panose="00000500000000000000" pitchFamily="2" charset="0"/>
              </a:rPr>
              <a:t>1.478 s</a:t>
            </a:r>
            <a:r>
              <a:rPr lang="en-US" sz="1600" b="1" i="0" u="none" strike="noStrike" baseline="0" dirty="0">
                <a:solidFill>
                  <a:schemeClr val="tx2"/>
                </a:solidFill>
                <a:latin typeface="Tenorite" panose="00000500000000000000" pitchFamily="2" charset="0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 b="1" dirty="0">
                <a:solidFill>
                  <a:schemeClr val="tx2"/>
                </a:solidFill>
                <a:latin typeface="Tenorite" panose="00000500000000000000" pitchFamily="2" charset="0"/>
              </a:rPr>
              <a:t>63.4 mA </a:t>
            </a:r>
            <a:r>
              <a:rPr lang="en-US" sz="1600" dirty="0">
                <a:solidFill>
                  <a:schemeClr val="tx2"/>
                </a:solidFill>
                <a:latin typeface="Tenorite" panose="00000500000000000000" pitchFamily="2" charset="0"/>
              </a:rPr>
              <a:t>when </a:t>
            </a:r>
            <a:r>
              <a:rPr lang="en-US" sz="1600" b="1" dirty="0">
                <a:solidFill>
                  <a:schemeClr val="tx2"/>
                </a:solidFill>
                <a:latin typeface="Tenorite" panose="00000500000000000000" pitchFamily="2" charset="0"/>
              </a:rPr>
              <a:t>waiting </a:t>
            </a:r>
            <a:r>
              <a:rPr lang="en-US" sz="1600" dirty="0">
                <a:solidFill>
                  <a:schemeClr val="tx2"/>
                </a:solidFill>
                <a:latin typeface="Tenorite" panose="00000500000000000000" pitchFamily="2" charset="0"/>
              </a:rPr>
              <a:t>for</a:t>
            </a:r>
            <a:r>
              <a:rPr lang="en-US" sz="1600" b="1" dirty="0">
                <a:solidFill>
                  <a:schemeClr val="tx2"/>
                </a:solidFill>
                <a:latin typeface="Tenorite" panose="00000500000000000000" pitchFamily="2" charset="0"/>
              </a:rPr>
              <a:t> 4 min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 b="1" i="0" u="none" strike="noStrike" baseline="0" dirty="0">
                <a:solidFill>
                  <a:schemeClr val="tx2"/>
                </a:solidFill>
                <a:latin typeface="Tenorite" panose="00000500000000000000" pitchFamily="2" charset="0"/>
              </a:rPr>
              <a:t>308 mA </a:t>
            </a:r>
            <a:r>
              <a:rPr lang="en-US" sz="1600" i="0" u="none" strike="noStrike" baseline="0" dirty="0">
                <a:solidFill>
                  <a:schemeClr val="tx2"/>
                </a:solidFill>
                <a:latin typeface="Tenorite" panose="00000500000000000000" pitchFamily="2" charset="0"/>
              </a:rPr>
              <a:t>during </a:t>
            </a:r>
            <a:r>
              <a:rPr lang="en-US" sz="1600" b="1" i="0" u="none" strike="noStrike" baseline="0" dirty="0">
                <a:solidFill>
                  <a:schemeClr val="tx2"/>
                </a:solidFill>
                <a:latin typeface="Tenorite" panose="00000500000000000000" pitchFamily="2" charset="0"/>
              </a:rPr>
              <a:t>transmission</a:t>
            </a:r>
            <a:r>
              <a:rPr lang="en-US" sz="1600" i="0" u="none" strike="noStrike" baseline="0" dirty="0">
                <a:solidFill>
                  <a:schemeClr val="tx2"/>
                </a:solidFill>
                <a:latin typeface="Tenorite" panose="00000500000000000000" pitchFamily="2" charset="0"/>
              </a:rPr>
              <a:t> mode for </a:t>
            </a:r>
            <a:r>
              <a:rPr lang="en-US" sz="1600" b="1" i="0" u="none" strike="noStrike" baseline="0" dirty="0">
                <a:solidFill>
                  <a:schemeClr val="tx2"/>
                </a:solidFill>
                <a:latin typeface="Tenorite" panose="00000500000000000000" pitchFamily="2" charset="0"/>
              </a:rPr>
              <a:t>914 </a:t>
            </a:r>
            <a:r>
              <a:rPr lang="en-US" sz="1600" b="1" i="0" u="none" strike="noStrike" baseline="0" dirty="0" err="1">
                <a:solidFill>
                  <a:schemeClr val="tx2"/>
                </a:solidFill>
                <a:latin typeface="Tenorite" panose="00000500000000000000" pitchFamily="2" charset="0"/>
              </a:rPr>
              <a:t>ms</a:t>
            </a:r>
            <a:endParaRPr lang="en-US" sz="1600" b="1" i="0" u="none" strike="noStrike" baseline="0" dirty="0">
              <a:solidFill>
                <a:schemeClr val="tx2"/>
              </a:solidFill>
              <a:latin typeface="Tenorite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39131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61438C-2573-4684-8927-1A7CE24A0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B3C6653-5DA6-4542-9E7D-A1AEA1BC7B4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cs typeface="Times New Roman" panose="02020603050405020304" pitchFamily="18" charset="0"/>
              </a:rPr>
              <a:t>VIII. </a:t>
            </a:r>
            <a:r>
              <a:rPr lang="fr-FR" b="1" dirty="0">
                <a:solidFill>
                  <a:schemeClr val="accent1"/>
                </a:solidFill>
                <a:latin typeface="Urbanist"/>
                <a:cs typeface="Times New Roman" panose="02020603050405020304" pitchFamily="18" charset="0"/>
                <a:sym typeface="Urbanist"/>
              </a:rPr>
              <a:t>Difficultés rencontrées</a:t>
            </a:r>
            <a:endParaRPr lang="en-US" b="1" dirty="0">
              <a:cs typeface="Times New Roman" panose="02020603050405020304" pitchFamily="18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55C4E6F-4A14-FE2E-21EA-0ED2426FB36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343EA570-6657-9D34-9B71-D88FD45DF1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1920" y="1074336"/>
            <a:ext cx="3050835" cy="21185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Conflit radio </a:t>
            </a: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BLE / LoRa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Gestion </a:t>
            </a: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RTOS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Encodage des données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Channel Busy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Synchronisation </a:t>
            </a: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radio</a:t>
            </a:r>
          </a:p>
        </p:txBody>
      </p:sp>
    </p:spTree>
    <p:extLst>
      <p:ext uri="{BB962C8B-B14F-4D97-AF65-F5344CB8AC3E}">
        <p14:creationId xmlns:p14="http://schemas.microsoft.com/office/powerpoint/2010/main" val="4276335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FC4B7-F397-78CF-A7E1-E3005E074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8804C49-570A-302D-FAB1-F62398508E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cs typeface="Times New Roman" panose="02020603050405020304" pitchFamily="18" charset="0"/>
              </a:rPr>
              <a:t>IX. </a:t>
            </a:r>
            <a:r>
              <a:rPr lang="fr-FR" b="1" dirty="0">
                <a:solidFill>
                  <a:schemeClr val="accent1"/>
                </a:solidFill>
                <a:latin typeface="Urbanist"/>
                <a:ea typeface="Urbanist"/>
                <a:cs typeface="Urbanist"/>
                <a:sym typeface="Urbanist"/>
              </a:rPr>
              <a:t>Conclusion &amp; Perspectives</a:t>
            </a:r>
            <a:endParaRPr lang="en-US" b="1" dirty="0">
              <a:cs typeface="Times New Roman" panose="02020603050405020304" pitchFamily="18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0F07AA6-8AA1-8755-0828-172BAD6BE11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C83A4DA6-B966-E1F8-A2AA-D4D5FA2E4757}"/>
              </a:ext>
            </a:extLst>
          </p:cNvPr>
          <p:cNvSpPr txBox="1"/>
          <p:nvPr/>
        </p:nvSpPr>
        <p:spPr>
          <a:xfrm>
            <a:off x="815340" y="1129159"/>
            <a:ext cx="5280660" cy="4758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000" b="1" dirty="0">
                <a:solidFill>
                  <a:schemeClr val="tx2"/>
                </a:solidFill>
              </a:rPr>
              <a:t>Résultat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dirty="0">
                <a:solidFill>
                  <a:schemeClr val="tx2"/>
                </a:solidFill>
              </a:rPr>
              <a:t>Chaîne IoT fonctionnelle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dirty="0">
                <a:solidFill>
                  <a:schemeClr val="tx2"/>
                </a:solidFill>
              </a:rPr>
              <a:t>Transmission stable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dirty="0">
                <a:solidFill>
                  <a:schemeClr val="tx2"/>
                </a:solidFill>
              </a:rPr>
              <a:t>Visualisation temps réel</a:t>
            </a:r>
          </a:p>
          <a:p>
            <a:pPr>
              <a:lnSpc>
                <a:spcPct val="150000"/>
              </a:lnSpc>
            </a:pPr>
            <a:endParaRPr lang="fr-FR" sz="2000" b="1" dirty="0">
              <a:solidFill>
                <a:schemeClr val="tx2"/>
              </a:solidFill>
            </a:endParaRPr>
          </a:p>
          <a:p>
            <a:pPr>
              <a:lnSpc>
                <a:spcPct val="150000"/>
              </a:lnSpc>
            </a:pPr>
            <a:r>
              <a:rPr lang="fr-FR" sz="2000" b="1" dirty="0">
                <a:solidFill>
                  <a:schemeClr val="tx2"/>
                </a:solidFill>
              </a:rPr>
              <a:t>Améliorations possibles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dirty="0">
                <a:solidFill>
                  <a:schemeClr val="tx2"/>
                </a:solidFill>
              </a:rPr>
              <a:t>Optimisation consommation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dirty="0">
                <a:solidFill>
                  <a:schemeClr val="tx2"/>
                </a:solidFill>
              </a:rPr>
              <a:t>Ajout capteurs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dirty="0">
                <a:solidFill>
                  <a:schemeClr val="tx2"/>
                </a:solidFill>
              </a:rPr>
              <a:t>Application mobile dédiée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dirty="0">
                <a:solidFill>
                  <a:schemeClr val="tx2"/>
                </a:solidFill>
              </a:rPr>
              <a:t>Ajout d’un </a:t>
            </a:r>
            <a:r>
              <a:rPr lang="fr-FR" dirty="0" err="1">
                <a:solidFill>
                  <a:schemeClr val="tx2"/>
                </a:solidFill>
              </a:rPr>
              <a:t>piezo</a:t>
            </a:r>
            <a:r>
              <a:rPr lang="fr-FR" dirty="0">
                <a:solidFill>
                  <a:schemeClr val="tx2"/>
                </a:solidFill>
              </a:rPr>
              <a:t> pour émettre des vibrations au moment de la transmission d’alertes</a:t>
            </a:r>
          </a:p>
        </p:txBody>
      </p:sp>
      <p:pic>
        <p:nvPicPr>
          <p:cNvPr id="2" name="Image 1" descr="Une image contenant Ingénierie électronique, câble, fils électriques, Composant électronique&#10;&#10;Le contenu généré par l’IA peut être incorrect.">
            <a:extLst>
              <a:ext uri="{FF2B5EF4-FFF2-40B4-BE49-F238E27FC236}">
                <a16:creationId xmlns:a16="http://schemas.microsoft.com/office/drawing/2014/main" id="{772F2D22-BC8B-A822-63E8-853AA2AB4E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7109281" y="996772"/>
            <a:ext cx="3752099" cy="4997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05094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22EAFC-7A16-7EA0-10F4-38AEFC620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 descr="Une image contenant capture d’écran, art, Graphique, bleu vert&#10;&#10;Le contenu généré par l’IA peut être incorrect.">
            <a:extLst>
              <a:ext uri="{FF2B5EF4-FFF2-40B4-BE49-F238E27FC236}">
                <a16:creationId xmlns:a16="http://schemas.microsoft.com/office/drawing/2014/main" id="{B04E8CA1-674F-848A-D750-0821B35EBE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7112" y="0"/>
            <a:ext cx="5384888" cy="6302523"/>
          </a:xfrm>
          <a:prstGeom prst="rect">
            <a:avLst/>
          </a:prstGeom>
        </p:spPr>
      </p:pic>
      <p:sp>
        <p:nvSpPr>
          <p:cNvPr id="12" name="Titre 2">
            <a:extLst>
              <a:ext uri="{FF2B5EF4-FFF2-40B4-BE49-F238E27FC236}">
                <a16:creationId xmlns:a16="http://schemas.microsoft.com/office/drawing/2014/main" id="{34A20E6D-C7FB-890B-37D8-C3DACB27B1B3}"/>
              </a:ext>
            </a:extLst>
          </p:cNvPr>
          <p:cNvSpPr txBox="1">
            <a:spLocks/>
          </p:cNvSpPr>
          <p:nvPr/>
        </p:nvSpPr>
        <p:spPr>
          <a:xfrm>
            <a:off x="134306" y="2478274"/>
            <a:ext cx="6672806" cy="646331"/>
          </a:xfrm>
          <a:prstGeom prst="rect">
            <a:avLst/>
          </a:prstGeom>
          <a:solidFill>
            <a:schemeClr val="bg1"/>
          </a:solidFill>
        </p:spPr>
        <p:txBody>
          <a:bodyPr anchor="ctr" anchorCtr="0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Tenorite" panose="00000500000000000000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THANK YOU FOR YOUR ATTENTION</a:t>
            </a:r>
            <a:endParaRPr lang="fr-FR" dirty="0"/>
          </a:p>
        </p:txBody>
      </p:sp>
      <p:sp>
        <p:nvSpPr>
          <p:cNvPr id="13" name="Sous-titre 3">
            <a:extLst>
              <a:ext uri="{FF2B5EF4-FFF2-40B4-BE49-F238E27FC236}">
                <a16:creationId xmlns:a16="http://schemas.microsoft.com/office/drawing/2014/main" id="{1E2F4539-4642-F937-CB0B-4B8FE31BEF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84" y="3534988"/>
            <a:ext cx="3951287" cy="396815"/>
          </a:xfrm>
          <a:solidFill>
            <a:schemeClr val="bg1"/>
          </a:solidFill>
        </p:spPr>
        <p:txBody>
          <a:bodyPr/>
          <a:lstStyle/>
          <a:p>
            <a:r>
              <a:rPr lang="en-US" dirty="0"/>
              <a:t>Feel free to ask any question</a:t>
            </a:r>
          </a:p>
        </p:txBody>
      </p:sp>
    </p:spTree>
    <p:extLst>
      <p:ext uri="{BB962C8B-B14F-4D97-AF65-F5344CB8AC3E}">
        <p14:creationId xmlns:p14="http://schemas.microsoft.com/office/powerpoint/2010/main" val="1254972480"/>
      </p:ext>
    </p:extLst>
  </p:cSld>
  <p:clrMapOvr>
    <a:masterClrMapping/>
  </p:clrMapOvr>
</p:sld>
</file>

<file path=ppt/theme/theme1.xml><?xml version="1.0" encoding="utf-8"?>
<a:theme xmlns:a="http://schemas.openxmlformats.org/drawingml/2006/main" name="LEAT template v2.0">
  <a:themeElements>
    <a:clrScheme name="LEAT">
      <a:dk1>
        <a:srgbClr val="007FA2"/>
      </a:dk1>
      <a:lt1>
        <a:srgbClr val="FFFFFF"/>
      </a:lt1>
      <a:dk2>
        <a:srgbClr val="000000"/>
      </a:dk2>
      <a:lt2>
        <a:srgbClr val="FFFFFF"/>
      </a:lt2>
      <a:accent1>
        <a:srgbClr val="007FA2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Corbel"/>
        <a:ea typeface=""/>
        <a:cs typeface=""/>
      </a:majorFont>
      <a:minorFont>
        <a:latin typeface="Corbe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EAT template v2.0" id="{B001473C-4E79-4ECD-8BBB-1E181203B5B5}" vid="{5730DE1B-6E7A-4881-9B05-8293C023F772}"/>
    </a:ext>
  </a:extLst>
</a:theme>
</file>

<file path=ppt/theme/theme2.xml><?xml version="1.0" encoding="utf-8"?>
<a:theme xmlns:a="http://schemas.openxmlformats.org/drawingml/2006/main" name="Slides">
  <a:themeElements>
    <a:clrScheme name="LEAT">
      <a:dk1>
        <a:srgbClr val="007FA2"/>
      </a:dk1>
      <a:lt1>
        <a:srgbClr val="FFFFFF"/>
      </a:lt1>
      <a:dk2>
        <a:srgbClr val="000000"/>
      </a:dk2>
      <a:lt2>
        <a:srgbClr val="FFFFFF"/>
      </a:lt2>
      <a:accent1>
        <a:srgbClr val="007FA2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Corbel"/>
        <a:ea typeface=""/>
        <a:cs typeface=""/>
      </a:majorFont>
      <a:minorFont>
        <a:latin typeface="Corbe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1DBFDC516FB7D498F2708E0668661F7" ma:contentTypeVersion="15" ma:contentTypeDescription="Create a new document." ma:contentTypeScope="" ma:versionID="76190fd46b8ecc19c259073b19191ac1">
  <xsd:schema xmlns:xsd="http://www.w3.org/2001/XMLSchema" xmlns:xs="http://www.w3.org/2001/XMLSchema" xmlns:p="http://schemas.microsoft.com/office/2006/metadata/properties" xmlns:ns2="fd043017-6145-4171-ae53-4a2444b0f3a8" xmlns:ns3="ae4d9fed-4369-4efa-870f-7c4fbc625802" targetNamespace="http://schemas.microsoft.com/office/2006/metadata/properties" ma:root="true" ma:fieldsID="1923d3a5d954ca530e5d58ea92103f74" ns2:_="" ns3:_="">
    <xsd:import namespace="fd043017-6145-4171-ae53-4a2444b0f3a8"/>
    <xsd:import namespace="ae4d9fed-4369-4efa-870f-7c4fbc62580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LengthInSecond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d043017-6145-4171-ae53-4a2444b0f3a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e741edfd-2169-4bab-b116-ba96bcb059c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e4d9fed-4369-4efa-870f-7c4fbc625802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7406fb81-2bc2-45cd-8be8-683db036b3a0}" ma:internalName="TaxCatchAll" ma:showField="CatchAllData" ma:web="ae4d9fed-4369-4efa-870f-7c4fbc62580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d043017-6145-4171-ae53-4a2444b0f3a8">
      <Terms xmlns="http://schemas.microsoft.com/office/infopath/2007/PartnerControls"/>
    </lcf76f155ced4ddcb4097134ff3c332f>
    <TaxCatchAll xmlns="ae4d9fed-4369-4efa-870f-7c4fbc625802" xsi:nil="true"/>
  </documentManagement>
</p:properties>
</file>

<file path=customXml/itemProps1.xml><?xml version="1.0" encoding="utf-8"?>
<ds:datastoreItem xmlns:ds="http://schemas.openxmlformats.org/officeDocument/2006/customXml" ds:itemID="{90619B12-AFF5-4C5C-937B-0A7AB196900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FEA0324-74CB-4E11-A24D-EE3DF264393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d043017-6145-4171-ae53-4a2444b0f3a8"/>
    <ds:schemaRef ds:uri="ae4d9fed-4369-4efa-870f-7c4fbc62580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28E950F-1FC1-4EC6-8449-A30A06409C7B}">
  <ds:schemaRefs>
    <ds:schemaRef ds:uri="http://schemas.microsoft.com/office/2006/metadata/properties"/>
    <ds:schemaRef ds:uri="http://purl.org/dc/elements/1.1/"/>
    <ds:schemaRef ds:uri="ae4d9fed-4369-4efa-870f-7c4fbc625802"/>
    <ds:schemaRef ds:uri="fd043017-6145-4171-ae53-4a2444b0f3a8"/>
    <ds:schemaRef ds:uri="http://schemas.microsoft.com/office/infopath/2007/PartnerControls"/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http://www.w3.org/XML/1998/namespace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LEAT template v2.0</Template>
  <TotalTime>3513</TotalTime>
  <Words>326</Words>
  <Application>Microsoft Office PowerPoint</Application>
  <PresentationFormat>Grand écran</PresentationFormat>
  <Paragraphs>108</Paragraphs>
  <Slides>13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13</vt:i4>
      </vt:variant>
    </vt:vector>
  </HeadingPairs>
  <TitlesOfParts>
    <vt:vector size="23" baseType="lpstr">
      <vt:lpstr>Aptos</vt:lpstr>
      <vt:lpstr>Arial</vt:lpstr>
      <vt:lpstr>Corbel</vt:lpstr>
      <vt:lpstr>Courier New</vt:lpstr>
      <vt:lpstr>Tenorite</vt:lpstr>
      <vt:lpstr>Times New Roman</vt:lpstr>
      <vt:lpstr>Urbanist</vt:lpstr>
      <vt:lpstr>Wingdings</vt:lpstr>
      <vt:lpstr>LEAT template v2.0</vt:lpstr>
      <vt:lpstr>Slides</vt:lpstr>
      <vt:lpstr>Système de Tracking</vt:lpstr>
      <vt:lpstr>Plan</vt:lpstr>
      <vt:lpstr>I. Introduction</vt:lpstr>
      <vt:lpstr>II. Architecture du Système</vt:lpstr>
      <vt:lpstr>III. Système Embarquée</vt:lpstr>
      <vt:lpstr>III. Système Embarquée</vt:lpstr>
      <vt:lpstr>IV. Transmission LoRa &amp; BLE</vt:lpstr>
      <vt:lpstr>V. Traitement Node-Red</vt:lpstr>
      <vt:lpstr>VI. Visualisation Grafana</vt:lpstr>
      <vt:lpstr>VII. Gestion énergétique</vt:lpstr>
      <vt:lpstr>VIII. Difficultés rencontrées</vt:lpstr>
      <vt:lpstr>IX. Conclusion &amp; Perspectives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Francesco Positano</dc:creator>
  <cp:lastModifiedBy>Galci Jostin BASSO-BIBILA</cp:lastModifiedBy>
  <cp:revision>288</cp:revision>
  <dcterms:created xsi:type="dcterms:W3CDTF">2024-07-11T12:14:25Z</dcterms:created>
  <dcterms:modified xsi:type="dcterms:W3CDTF">2026-02-26T21:49:28Z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0x010100D1DBFDC516FB7D498F2708E0668661F7</vt:lpwstr>
  </property>
</Properties>
</file>